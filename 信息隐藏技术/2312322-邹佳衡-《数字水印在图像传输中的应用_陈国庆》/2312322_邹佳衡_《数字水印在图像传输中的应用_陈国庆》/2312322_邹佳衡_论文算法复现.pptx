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3.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999" r:id="rId2"/>
    <p:sldId id="1000" r:id="rId3"/>
    <p:sldId id="624" r:id="rId4"/>
    <p:sldId id="1002" r:id="rId5"/>
    <p:sldId id="1030" r:id="rId6"/>
    <p:sldId id="1031" r:id="rId7"/>
    <p:sldId id="1082" r:id="rId8"/>
    <p:sldId id="1080" r:id="rId9"/>
    <p:sldId id="1006" r:id="rId10"/>
    <p:sldId id="1049" r:id="rId11"/>
    <p:sldId id="1078" r:id="rId12"/>
    <p:sldId id="1077" r:id="rId13"/>
    <p:sldId id="1079" r:id="rId14"/>
    <p:sldId id="1081" r:id="rId15"/>
    <p:sldId id="1007" r:id="rId16"/>
    <p:sldId id="1051" r:id="rId17"/>
    <p:sldId id="1055" r:id="rId18"/>
    <p:sldId id="1009" r:id="rId19"/>
    <p:sldId id="1083" r:id="rId20"/>
    <p:sldId id="1084" r:id="rId21"/>
    <p:sldId id="1085" r:id="rId22"/>
    <p:sldId id="1089" r:id="rId23"/>
    <p:sldId id="1086" r:id="rId24"/>
    <p:sldId id="1087" r:id="rId25"/>
    <p:sldId id="1088" r:id="rId26"/>
    <p:sldId id="1090" r:id="rId27"/>
    <p:sldId id="1029"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02FF38B-C834-4E2A-9749-3A932743FE55}">
          <p14:sldIdLst>
            <p14:sldId id="999"/>
            <p14:sldId id="1000"/>
            <p14:sldId id="624"/>
            <p14:sldId id="1002"/>
            <p14:sldId id="1030"/>
            <p14:sldId id="1031"/>
            <p14:sldId id="1082"/>
            <p14:sldId id="1080"/>
            <p14:sldId id="1006"/>
            <p14:sldId id="1049"/>
            <p14:sldId id="1078"/>
            <p14:sldId id="1077"/>
            <p14:sldId id="1079"/>
            <p14:sldId id="1081"/>
            <p14:sldId id="1007"/>
            <p14:sldId id="1051"/>
            <p14:sldId id="1055"/>
            <p14:sldId id="1009"/>
            <p14:sldId id="1083"/>
            <p14:sldId id="1084"/>
            <p14:sldId id="1085"/>
            <p14:sldId id="1089"/>
            <p14:sldId id="1086"/>
            <p14:sldId id="1087"/>
            <p14:sldId id="1088"/>
            <p14:sldId id="1090"/>
            <p14:sldId id="10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68A1"/>
    <a:srgbClr val="D0C9DD"/>
    <a:srgbClr val="FAD6D3"/>
    <a:srgbClr val="9E85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42" autoAdjust="0"/>
    <p:restoredTop sz="94660"/>
  </p:normalViewPr>
  <p:slideViewPr>
    <p:cSldViewPr snapToGrid="0">
      <p:cViewPr varScale="1">
        <p:scale>
          <a:sx n="98" d="100"/>
          <a:sy n="98" d="100"/>
        </p:scale>
        <p:origin x="64"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54842-AD64-4EC8-8880-9AE6BD7C9826}" type="datetimeFigureOut">
              <a:rPr lang="zh-CN" altLang="en-US" smtClean="0"/>
              <a:t>2026/6/9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E6DBB6-790B-49EF-9DC3-4FA428CE16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455B-A24A-60AA-3D4C-FC1C871C34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07CB5-AF2E-B9EC-981C-0F11E75804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B97138-9014-280A-A091-F1C20A9C9D4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8A1E38B-26E2-263D-7DD6-D87435803978}"/>
              </a:ext>
            </a:extLst>
          </p:cNvPr>
          <p:cNvSpPr>
            <a:spLocks noGrp="1"/>
          </p:cNvSpPr>
          <p:nvPr>
            <p:ph type="sldNum" sz="quarter" idx="10"/>
          </p:nvPr>
        </p:nvSpPr>
        <p:spPr/>
        <p:txBody>
          <a:bodyPr/>
          <a:lstStyle/>
          <a:p>
            <a:fld id="{00E6DBB6-790B-49EF-9DC3-4FA428CE1654}" type="slidenum">
              <a:rPr lang="zh-CN" altLang="en-US" smtClean="0"/>
              <a:t>7</a:t>
            </a:fld>
            <a:endParaRPr lang="zh-CN" altLang="en-US"/>
          </a:p>
        </p:txBody>
      </p:sp>
    </p:spTree>
    <p:extLst>
      <p:ext uri="{BB962C8B-B14F-4D97-AF65-F5344CB8AC3E}">
        <p14:creationId xmlns:p14="http://schemas.microsoft.com/office/powerpoint/2010/main" val="4111200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0124-6D71-88B6-91B6-5D4DA1A9FA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7193A2-2F03-88E7-0325-2ED9CFF958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93A14C-7496-6CD5-C7D4-CC84B9F85AB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6ABC18E-5E5A-6C33-2CAB-CBB285DC58C9}"/>
              </a:ext>
            </a:extLst>
          </p:cNvPr>
          <p:cNvSpPr>
            <a:spLocks noGrp="1"/>
          </p:cNvSpPr>
          <p:nvPr>
            <p:ph type="sldNum" sz="quarter" idx="10"/>
          </p:nvPr>
        </p:nvSpPr>
        <p:spPr/>
        <p:txBody>
          <a:bodyPr/>
          <a:lstStyle/>
          <a:p>
            <a:fld id="{00E6DBB6-790B-49EF-9DC3-4FA428CE1654}" type="slidenum">
              <a:rPr lang="zh-CN" altLang="en-US" smtClean="0"/>
              <a:t>8</a:t>
            </a:fld>
            <a:endParaRPr lang="zh-CN" altLang="en-US"/>
          </a:p>
        </p:txBody>
      </p:sp>
    </p:spTree>
    <p:extLst>
      <p:ext uri="{BB962C8B-B14F-4D97-AF65-F5344CB8AC3E}">
        <p14:creationId xmlns:p14="http://schemas.microsoft.com/office/powerpoint/2010/main" val="3252998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9E792-239C-B197-BC02-B7C5A6C935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016D3F-DB23-10E6-C949-4FD3ACB61D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AF5CF8-370F-7E8A-24F9-1BAE66E7BE7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E5A27C0-D03A-78B6-6950-45B7B5410322}"/>
              </a:ext>
            </a:extLst>
          </p:cNvPr>
          <p:cNvSpPr>
            <a:spLocks noGrp="1"/>
          </p:cNvSpPr>
          <p:nvPr>
            <p:ph type="sldNum" sz="quarter" idx="10"/>
          </p:nvPr>
        </p:nvSpPr>
        <p:spPr/>
        <p:txBody>
          <a:bodyPr/>
          <a:lstStyle/>
          <a:p>
            <a:fld id="{00E6DBB6-790B-49EF-9DC3-4FA428CE1654}" type="slidenum">
              <a:rPr lang="zh-CN" altLang="en-US" smtClean="0"/>
              <a:t>11</a:t>
            </a:fld>
            <a:endParaRPr lang="zh-CN" altLang="en-US"/>
          </a:p>
        </p:txBody>
      </p:sp>
    </p:spTree>
    <p:extLst>
      <p:ext uri="{BB962C8B-B14F-4D97-AF65-F5344CB8AC3E}">
        <p14:creationId xmlns:p14="http://schemas.microsoft.com/office/powerpoint/2010/main" val="2919469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A70A2-88C9-C336-2450-3B01C5BE9A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183257-A6CE-D2BB-FCF3-A0230C2DB0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8F7DC0-9566-E66B-F01F-9D791059D58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8AA7414-6C64-99FE-64BF-989C9E297A0C}"/>
              </a:ext>
            </a:extLst>
          </p:cNvPr>
          <p:cNvSpPr>
            <a:spLocks noGrp="1"/>
          </p:cNvSpPr>
          <p:nvPr>
            <p:ph type="sldNum" sz="quarter" idx="10"/>
          </p:nvPr>
        </p:nvSpPr>
        <p:spPr/>
        <p:txBody>
          <a:bodyPr/>
          <a:lstStyle/>
          <a:p>
            <a:fld id="{00E6DBB6-790B-49EF-9DC3-4FA428CE1654}" type="slidenum">
              <a:rPr lang="zh-CN" altLang="en-US" smtClean="0"/>
              <a:t>12</a:t>
            </a:fld>
            <a:endParaRPr lang="zh-CN" altLang="en-US"/>
          </a:p>
        </p:txBody>
      </p:sp>
    </p:spTree>
    <p:extLst>
      <p:ext uri="{BB962C8B-B14F-4D97-AF65-F5344CB8AC3E}">
        <p14:creationId xmlns:p14="http://schemas.microsoft.com/office/powerpoint/2010/main" val="2641611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0A4B-0BA2-54F7-AA0A-EC34D1BC36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BCFC18-E6AD-3385-AE90-4F10E56933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5575BD-CE83-5B5B-34ED-8A7DE439F9A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2103754-93DE-F07E-DD42-A63770940BC1}"/>
              </a:ext>
            </a:extLst>
          </p:cNvPr>
          <p:cNvSpPr>
            <a:spLocks noGrp="1"/>
          </p:cNvSpPr>
          <p:nvPr>
            <p:ph type="sldNum" sz="quarter" idx="10"/>
          </p:nvPr>
        </p:nvSpPr>
        <p:spPr/>
        <p:txBody>
          <a:bodyPr/>
          <a:lstStyle/>
          <a:p>
            <a:fld id="{00E6DBB6-790B-49EF-9DC3-4FA428CE1654}" type="slidenum">
              <a:rPr lang="zh-CN" altLang="en-US" smtClean="0"/>
              <a:t>13</a:t>
            </a:fld>
            <a:endParaRPr lang="zh-CN" altLang="en-US"/>
          </a:p>
        </p:txBody>
      </p:sp>
    </p:spTree>
    <p:extLst>
      <p:ext uri="{BB962C8B-B14F-4D97-AF65-F5344CB8AC3E}">
        <p14:creationId xmlns:p14="http://schemas.microsoft.com/office/powerpoint/2010/main" val="481232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D0527-8EC9-C0B5-ADBA-5FE2473B48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B463BC-8A76-70D2-D8C2-BA7AD1F450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45D03A-5135-8192-EA67-26E89BCF176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C83DE70-21B8-43F3-5C10-70FD82AF9B21}"/>
              </a:ext>
            </a:extLst>
          </p:cNvPr>
          <p:cNvSpPr>
            <a:spLocks noGrp="1"/>
          </p:cNvSpPr>
          <p:nvPr>
            <p:ph type="sldNum" sz="quarter" idx="10"/>
          </p:nvPr>
        </p:nvSpPr>
        <p:spPr/>
        <p:txBody>
          <a:bodyPr/>
          <a:lstStyle/>
          <a:p>
            <a:fld id="{00E6DBB6-790B-49EF-9DC3-4FA428CE1654}" type="slidenum">
              <a:rPr lang="zh-CN" altLang="en-US" smtClean="0"/>
              <a:t>14</a:t>
            </a:fld>
            <a:endParaRPr lang="zh-CN" altLang="en-US"/>
          </a:p>
        </p:txBody>
      </p:sp>
    </p:spTree>
    <p:extLst>
      <p:ext uri="{BB962C8B-B14F-4D97-AF65-F5344CB8AC3E}">
        <p14:creationId xmlns:p14="http://schemas.microsoft.com/office/powerpoint/2010/main" val="718896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0E6DBB6-790B-49EF-9DC3-4FA428CE1654}"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B0FDA-A16E-55EB-6ED6-7DC35E09C6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00DC6B-AEC9-5B4A-D876-E353C90C4E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45C6F3-6B52-522D-2346-FB8CEA25ED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EFA3ADD-0DB3-2EB1-39E3-71F6E81B0DFA}"/>
              </a:ext>
            </a:extLst>
          </p:cNvPr>
          <p:cNvSpPr>
            <a:spLocks noGrp="1"/>
          </p:cNvSpPr>
          <p:nvPr>
            <p:ph type="sldNum" sz="quarter" idx="10"/>
          </p:nvPr>
        </p:nvSpPr>
        <p:spPr/>
        <p:txBody>
          <a:bodyPr/>
          <a:lstStyle/>
          <a:p>
            <a:fld id="{00E6DBB6-790B-49EF-9DC3-4FA428CE1654}" type="slidenum">
              <a:rPr lang="zh-CN" altLang="en-US" smtClean="0"/>
              <a:t>19</a:t>
            </a:fld>
            <a:endParaRPr lang="zh-CN" altLang="en-US"/>
          </a:p>
        </p:txBody>
      </p:sp>
    </p:spTree>
    <p:extLst>
      <p:ext uri="{BB962C8B-B14F-4D97-AF65-F5344CB8AC3E}">
        <p14:creationId xmlns:p14="http://schemas.microsoft.com/office/powerpoint/2010/main" val="2640809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E6F83-7C17-83AA-B897-C61065C6DD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F41233-0D19-C7DF-7422-35F194BFC3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88E00A-A5FB-953B-4E0A-DD7ECDE3D2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CD9FD2E-9A7A-E987-E245-B556AB93E263}"/>
              </a:ext>
            </a:extLst>
          </p:cNvPr>
          <p:cNvSpPr>
            <a:spLocks noGrp="1"/>
          </p:cNvSpPr>
          <p:nvPr>
            <p:ph type="sldNum" sz="quarter" idx="10"/>
          </p:nvPr>
        </p:nvSpPr>
        <p:spPr/>
        <p:txBody>
          <a:bodyPr/>
          <a:lstStyle/>
          <a:p>
            <a:fld id="{00E6DBB6-790B-49EF-9DC3-4FA428CE1654}" type="slidenum">
              <a:rPr lang="zh-CN" altLang="en-US" smtClean="0"/>
              <a:t>20</a:t>
            </a:fld>
            <a:endParaRPr lang="zh-CN" altLang="en-US"/>
          </a:p>
        </p:txBody>
      </p:sp>
    </p:spTree>
    <p:extLst>
      <p:ext uri="{BB962C8B-B14F-4D97-AF65-F5344CB8AC3E}">
        <p14:creationId xmlns:p14="http://schemas.microsoft.com/office/powerpoint/2010/main" val="2197980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43EE-0472-77D6-1203-A5FF317D3B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882CE3-DBD0-F063-9B8F-90D76132E23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A05A9C-57F3-185D-3DCD-05141A4C830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0A915D8-9851-35C1-FC91-9BE5643A9120}"/>
              </a:ext>
            </a:extLst>
          </p:cNvPr>
          <p:cNvSpPr>
            <a:spLocks noGrp="1"/>
          </p:cNvSpPr>
          <p:nvPr>
            <p:ph type="sldNum" sz="quarter" idx="10"/>
          </p:nvPr>
        </p:nvSpPr>
        <p:spPr/>
        <p:txBody>
          <a:bodyPr/>
          <a:lstStyle/>
          <a:p>
            <a:fld id="{00E6DBB6-790B-49EF-9DC3-4FA428CE1654}" type="slidenum">
              <a:rPr lang="zh-CN" altLang="en-US" smtClean="0"/>
              <a:t>21</a:t>
            </a:fld>
            <a:endParaRPr lang="zh-CN" altLang="en-US"/>
          </a:p>
        </p:txBody>
      </p:sp>
    </p:spTree>
    <p:extLst>
      <p:ext uri="{BB962C8B-B14F-4D97-AF65-F5344CB8AC3E}">
        <p14:creationId xmlns:p14="http://schemas.microsoft.com/office/powerpoint/2010/main" val="3332692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2D83-B76A-FD9C-EF15-864E71F268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3D7023-C0E3-2CE6-6E99-25188AC477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96EB9-C07D-DA4E-3C54-DA2CFF3E947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2EDAC16-92E2-636E-FD3B-DC1AF1D574A1}"/>
              </a:ext>
            </a:extLst>
          </p:cNvPr>
          <p:cNvSpPr>
            <a:spLocks noGrp="1"/>
          </p:cNvSpPr>
          <p:nvPr>
            <p:ph type="sldNum" sz="quarter" idx="10"/>
          </p:nvPr>
        </p:nvSpPr>
        <p:spPr/>
        <p:txBody>
          <a:bodyPr/>
          <a:lstStyle/>
          <a:p>
            <a:fld id="{00E6DBB6-790B-49EF-9DC3-4FA428CE1654}" type="slidenum">
              <a:rPr lang="zh-CN" altLang="en-US" smtClean="0"/>
              <a:t>22</a:t>
            </a:fld>
            <a:endParaRPr lang="zh-CN" altLang="en-US"/>
          </a:p>
        </p:txBody>
      </p:sp>
    </p:spTree>
    <p:extLst>
      <p:ext uri="{BB962C8B-B14F-4D97-AF65-F5344CB8AC3E}">
        <p14:creationId xmlns:p14="http://schemas.microsoft.com/office/powerpoint/2010/main" val="676985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F1B6D-953E-F00D-79EE-44041C0D54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A5BBA1-C81B-ACF9-3436-3CD7DD9706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D816FD-1B4C-CB29-7BCE-1001B60662A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64615A9-4B26-5F9D-FD6B-8CE97DABFDC1}"/>
              </a:ext>
            </a:extLst>
          </p:cNvPr>
          <p:cNvSpPr>
            <a:spLocks noGrp="1"/>
          </p:cNvSpPr>
          <p:nvPr>
            <p:ph type="sldNum" sz="quarter" idx="10"/>
          </p:nvPr>
        </p:nvSpPr>
        <p:spPr/>
        <p:txBody>
          <a:bodyPr/>
          <a:lstStyle/>
          <a:p>
            <a:fld id="{00E6DBB6-790B-49EF-9DC3-4FA428CE1654}" type="slidenum">
              <a:rPr lang="zh-CN" altLang="en-US" smtClean="0"/>
              <a:t>23</a:t>
            </a:fld>
            <a:endParaRPr lang="zh-CN" altLang="en-US"/>
          </a:p>
        </p:txBody>
      </p:sp>
    </p:spTree>
    <p:extLst>
      <p:ext uri="{BB962C8B-B14F-4D97-AF65-F5344CB8AC3E}">
        <p14:creationId xmlns:p14="http://schemas.microsoft.com/office/powerpoint/2010/main" val="11758557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4027C-8D14-CE47-BDB7-80ACBA5853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74D33F-3C3B-F79C-B9CB-B587DB6BAC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CEEE17-F357-C9D5-522C-3899E28C29F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B8BCDDE-749F-7F82-EC07-13B05F5B7F49}"/>
              </a:ext>
            </a:extLst>
          </p:cNvPr>
          <p:cNvSpPr>
            <a:spLocks noGrp="1"/>
          </p:cNvSpPr>
          <p:nvPr>
            <p:ph type="sldNum" sz="quarter" idx="10"/>
          </p:nvPr>
        </p:nvSpPr>
        <p:spPr/>
        <p:txBody>
          <a:bodyPr/>
          <a:lstStyle/>
          <a:p>
            <a:fld id="{00E6DBB6-790B-49EF-9DC3-4FA428CE1654}" type="slidenum">
              <a:rPr lang="zh-CN" altLang="en-US" smtClean="0"/>
              <a:t>24</a:t>
            </a:fld>
            <a:endParaRPr lang="zh-CN" altLang="en-US"/>
          </a:p>
        </p:txBody>
      </p:sp>
    </p:spTree>
    <p:extLst>
      <p:ext uri="{BB962C8B-B14F-4D97-AF65-F5344CB8AC3E}">
        <p14:creationId xmlns:p14="http://schemas.microsoft.com/office/powerpoint/2010/main" val="465254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6421C-005A-2A0B-3968-1A865442A9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65D367B-4482-7E9C-E8A5-8E6218771D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0143999-5185-D277-9158-0077A48E055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7DB4EC0-2FD6-C164-E316-B39724390496}"/>
              </a:ext>
            </a:extLst>
          </p:cNvPr>
          <p:cNvSpPr>
            <a:spLocks noGrp="1"/>
          </p:cNvSpPr>
          <p:nvPr>
            <p:ph type="sldNum" sz="quarter" idx="10"/>
          </p:nvPr>
        </p:nvSpPr>
        <p:spPr/>
        <p:txBody>
          <a:bodyPr/>
          <a:lstStyle/>
          <a:p>
            <a:fld id="{00E6DBB6-790B-49EF-9DC3-4FA428CE1654}" type="slidenum">
              <a:rPr lang="zh-CN" altLang="en-US" smtClean="0"/>
              <a:t>25</a:t>
            </a:fld>
            <a:endParaRPr lang="zh-CN" altLang="en-US"/>
          </a:p>
        </p:txBody>
      </p:sp>
    </p:spTree>
    <p:extLst>
      <p:ext uri="{BB962C8B-B14F-4D97-AF65-F5344CB8AC3E}">
        <p14:creationId xmlns:p14="http://schemas.microsoft.com/office/powerpoint/2010/main" val="2061471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EEDE-9B9A-0158-6620-16F618ECB2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E77585-8E69-F7FA-61D6-2087FD3B09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4CA598-FCEE-1D1B-8413-CDDD23B87F1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15F887C-B6EE-4F20-5409-DE96701B8DCD}"/>
              </a:ext>
            </a:extLst>
          </p:cNvPr>
          <p:cNvSpPr>
            <a:spLocks noGrp="1"/>
          </p:cNvSpPr>
          <p:nvPr>
            <p:ph type="sldNum" sz="quarter" idx="10"/>
          </p:nvPr>
        </p:nvSpPr>
        <p:spPr/>
        <p:txBody>
          <a:bodyPr/>
          <a:lstStyle/>
          <a:p>
            <a:fld id="{00E6DBB6-790B-49EF-9DC3-4FA428CE1654}" type="slidenum">
              <a:rPr lang="zh-CN" altLang="en-US" smtClean="0"/>
              <a:t>26</a:t>
            </a:fld>
            <a:endParaRPr lang="zh-CN" altLang="en-US"/>
          </a:p>
        </p:txBody>
      </p:sp>
    </p:spTree>
    <p:extLst>
      <p:ext uri="{BB962C8B-B14F-4D97-AF65-F5344CB8AC3E}">
        <p14:creationId xmlns:p14="http://schemas.microsoft.com/office/powerpoint/2010/main" val="25960876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730D91D-ED80-490F-8129-07349F8661B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a:off x="337457" y="391885"/>
            <a:ext cx="11517086" cy="6074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a:off x="337457" y="391885"/>
            <a:ext cx="11517086" cy="6074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cSld>
  <p:clrMapOvr>
    <a:masterClrMapping/>
  </p:clrMapOvr>
  <p:transition spd="slow" advTm="300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AC449-15F4-4495-809D-465A1987452F}" type="datetimeFigureOut">
              <a:rPr lang="zh-CN" altLang="en-US" smtClean="0"/>
              <a:t>2026/6/9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0D91D-ED80-490F-8129-07349F8661B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p14:dur="100" advTm="3000">
        <p:cut/>
      </p:transition>
    </mc:Choice>
    <mc:Fallback xmlns="">
      <p:transition advTm="3000">
        <p:cu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tags" Target="../tags/tag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A_矩形 29"/>
          <p:cNvSpPr/>
          <p:nvPr>
            <p:custDataLst>
              <p:tags r:id="rId1"/>
            </p:custDataLst>
          </p:nvPr>
        </p:nvSpPr>
        <p:spPr>
          <a:xfrm>
            <a:off x="83956" y="1566754"/>
            <a:ext cx="12024088" cy="2256387"/>
          </a:xfrm>
          <a:prstGeom prst="rect">
            <a:avLst/>
          </a:prstGeom>
          <a:noFill/>
          <a:ln>
            <a:noFill/>
          </a:ln>
          <a:effectLst/>
        </p:spPr>
        <p:txBody>
          <a:bodyPr wrap="square">
            <a:spAutoFit/>
          </a:bodyPr>
          <a:lstStyle/>
          <a:p>
            <a:pPr algn="ctr">
              <a:lnSpc>
                <a:spcPct val="150000"/>
              </a:lnSpc>
            </a:pPr>
            <a:r>
              <a:rPr lang="zh-CN" altLang="en-US" sz="6000" b="1" dirty="0">
                <a:latin typeface="楷体" panose="02010609060101010101" pitchFamily="49" charset="-122"/>
                <a:ea typeface="楷体" panose="02010609060101010101" pitchFamily="49" charset="-122"/>
              </a:rPr>
              <a:t>信息隐藏技术</a:t>
            </a:r>
            <a:endParaRPr lang="en-US" altLang="zh-CN" sz="6000" b="1" dirty="0">
              <a:latin typeface="楷体" panose="02010609060101010101" pitchFamily="49" charset="-122"/>
              <a:ea typeface="楷体" panose="02010609060101010101" pitchFamily="49" charset="-122"/>
            </a:endParaRPr>
          </a:p>
          <a:p>
            <a:pPr algn="ctr">
              <a:lnSpc>
                <a:spcPct val="150000"/>
              </a:lnSpc>
            </a:pPr>
            <a:r>
              <a:rPr lang="zh-CN" altLang="en-US" sz="4000" dirty="0">
                <a:latin typeface="楷体" panose="02010609060101010101" pitchFamily="49" charset="-122"/>
                <a:ea typeface="楷体" panose="02010609060101010101" pitchFamily="49" charset="-122"/>
              </a:rPr>
              <a:t>第三次大作业：研读论文并复现其中算法</a:t>
            </a:r>
            <a:endParaRPr lang="en-US" altLang="zh-CN" sz="4000" dirty="0">
              <a:latin typeface="楷体" panose="02010609060101010101" pitchFamily="49" charset="-122"/>
              <a:ea typeface="楷体" panose="02010609060101010101" pitchFamily="49" charset="-122"/>
            </a:endParaRPr>
          </a:p>
        </p:txBody>
      </p:sp>
      <p:sp>
        <p:nvSpPr>
          <p:cNvPr id="6" name="矩形 5"/>
          <p:cNvSpPr/>
          <p:nvPr/>
        </p:nvSpPr>
        <p:spPr>
          <a:xfrm>
            <a:off x="556591" y="1116887"/>
            <a:ext cx="11104988"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9111916" y="5824037"/>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6058" y="5485260"/>
            <a:ext cx="1306054" cy="1297880"/>
          </a:xfrm>
          <a:prstGeom prst="rect">
            <a:avLst/>
          </a:prstGeom>
        </p:spPr>
      </p:pic>
      <p:sp>
        <p:nvSpPr>
          <p:cNvPr id="4" name="文本框 3"/>
          <p:cNvSpPr txBox="1"/>
          <p:nvPr/>
        </p:nvSpPr>
        <p:spPr>
          <a:xfrm>
            <a:off x="9878096" y="5273009"/>
            <a:ext cx="2028345" cy="461665"/>
          </a:xfrm>
          <a:prstGeom prst="rect">
            <a:avLst/>
          </a:prstGeom>
          <a:noFill/>
        </p:spPr>
        <p:txBody>
          <a:bodyPr wrap="square" rtlCol="0">
            <a:spAutoFit/>
          </a:bodyPr>
          <a:lstStyle/>
          <a:p>
            <a:r>
              <a:rPr lang="en-US" altLang="zh-CN" sz="2400" dirty="0">
                <a:latin typeface="方正小标宋简体" panose="02000000000000000000" pitchFamily="2" charset="-122"/>
                <a:ea typeface="方正小标宋简体" panose="02000000000000000000" pitchFamily="2" charset="-122"/>
              </a:rPr>
              <a:t>2026/06/09</a:t>
            </a:r>
            <a:endParaRPr lang="zh-CN" altLang="en-US" sz="2400" dirty="0">
              <a:latin typeface="方正小标宋简体" panose="02000000000000000000" pitchFamily="2" charset="-122"/>
              <a:ea typeface="方正小标宋简体" panose="02000000000000000000" pitchFamily="2" charset="-122"/>
            </a:endParaRPr>
          </a:p>
        </p:txBody>
      </p:sp>
      <p:sp>
        <p:nvSpPr>
          <p:cNvPr id="9" name="文本框 8"/>
          <p:cNvSpPr txBox="1"/>
          <p:nvPr/>
        </p:nvSpPr>
        <p:spPr>
          <a:xfrm>
            <a:off x="3054459" y="4049437"/>
            <a:ext cx="6109252" cy="1405193"/>
          </a:xfrm>
          <a:prstGeom prst="rect">
            <a:avLst/>
          </a:prstGeom>
          <a:noFill/>
        </p:spPr>
        <p:txBody>
          <a:bodyPr wrap="square">
            <a:spAutoFit/>
          </a:bodyPr>
          <a:lstStyle/>
          <a:p>
            <a:pPr algn="ctr">
              <a:lnSpc>
                <a:spcPct val="150000"/>
              </a:lnSpc>
            </a:pPr>
            <a:r>
              <a:rPr lang="zh-CN" altLang="en-US" sz="2000" dirty="0">
                <a:latin typeface="楷体" panose="02010609060101010101" pitchFamily="49" charset="-122"/>
                <a:ea typeface="楷体" panose="02010609060101010101" pitchFamily="49" charset="-122"/>
              </a:rPr>
              <a:t>密码与网络空间安全学院  </a:t>
            </a:r>
            <a:endParaRPr lang="en-US" altLang="zh-CN" sz="2000" dirty="0">
              <a:latin typeface="楷体" panose="02010609060101010101" pitchFamily="49" charset="-122"/>
              <a:ea typeface="楷体" panose="02010609060101010101" pitchFamily="49" charset="-122"/>
            </a:endParaRPr>
          </a:p>
          <a:p>
            <a:pPr algn="ctr">
              <a:lnSpc>
                <a:spcPct val="150000"/>
              </a:lnSpc>
            </a:pPr>
            <a:r>
              <a:rPr lang="zh-CN" altLang="en-US" sz="2000" dirty="0">
                <a:latin typeface="楷体" panose="02010609060101010101" pitchFamily="49" charset="-122"/>
                <a:ea typeface="楷体" panose="02010609060101010101" pitchFamily="49" charset="-122"/>
              </a:rPr>
              <a:t>组长：邹佳衡</a:t>
            </a:r>
            <a:endParaRPr lang="en-US" altLang="zh-CN" sz="2000" dirty="0">
              <a:latin typeface="楷体" panose="02010609060101010101" pitchFamily="49" charset="-122"/>
              <a:ea typeface="楷体" panose="02010609060101010101" pitchFamily="49" charset="-122"/>
            </a:endParaRPr>
          </a:p>
          <a:p>
            <a:pPr algn="ctr">
              <a:lnSpc>
                <a:spcPct val="150000"/>
              </a:lnSpc>
            </a:pPr>
            <a:r>
              <a:rPr lang="zh-CN" altLang="en-US" sz="2000" dirty="0">
                <a:latin typeface="楷体" panose="02010609060101010101" pitchFamily="49" charset="-122"/>
                <a:ea typeface="楷体" panose="02010609060101010101" pitchFamily="49" charset="-122"/>
              </a:rPr>
              <a:t>组员：黄子豪、蒋佳杰、陈宇心、葛佳琦</a:t>
            </a:r>
            <a:endParaRPr lang="en-US" altLang="zh-CN" sz="2000" dirty="0">
              <a:latin typeface="楷体" panose="02010609060101010101" pitchFamily="49" charset="-122"/>
              <a:ea typeface="楷体" panose="02010609060101010101" pitchFamily="49" charset="-122"/>
            </a:endParaRP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359866" cy="1029540"/>
          </a:xfrm>
          <a:prstGeom prst="rect">
            <a:avLst/>
          </a:prstGeom>
        </p:spPr>
      </p:pic>
      <p:sp>
        <p:nvSpPr>
          <p:cNvPr id="2" name="Rectangle 4"/>
          <p:cNvSpPr txBox="1">
            <a:spLocks noChangeArrowheads="1"/>
          </p:cNvSpPr>
          <p:nvPr/>
        </p:nvSpPr>
        <p:spPr>
          <a:xfrm>
            <a:off x="3507834" y="506944"/>
            <a:ext cx="5176331" cy="101230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defRPr/>
            </a:pPr>
            <a:r>
              <a:rPr lang="zh-CN" altLang="en-US" sz="5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目录及小组分工  </a:t>
            </a:r>
            <a:endParaRPr lang="en-US" altLang="zh-CN" sz="5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3" name="矩形: 圆角 20"/>
          <p:cNvSpPr/>
          <p:nvPr/>
        </p:nvSpPr>
        <p:spPr>
          <a:xfrm>
            <a:off x="2244013" y="2032705"/>
            <a:ext cx="8262595" cy="99553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复现水印嵌入与提取（葛佳琦）</a:t>
            </a:r>
          </a:p>
        </p:txBody>
      </p:sp>
      <p:sp>
        <p:nvSpPr>
          <p:cNvPr id="4" name="矩形: 圆角 21"/>
          <p:cNvSpPr/>
          <p:nvPr/>
        </p:nvSpPr>
        <p:spPr>
          <a:xfrm>
            <a:off x="883324" y="1439202"/>
            <a:ext cx="1347419" cy="868240"/>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4400"/>
              </a:lnSpc>
            </a:pPr>
            <a:r>
              <a:rPr lang="en-US" altLang="zh-CN"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01</a:t>
            </a:r>
            <a:endParaRPr lang="zh-CN" altLang="en-US"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5" name="矩形: 圆角 20"/>
          <p:cNvSpPr/>
          <p:nvPr/>
        </p:nvSpPr>
        <p:spPr>
          <a:xfrm>
            <a:off x="2230743" y="3699852"/>
            <a:ext cx="9526755" cy="862148"/>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提出改进方案（陈宇心）</a:t>
            </a:r>
          </a:p>
        </p:txBody>
      </p:sp>
      <p:sp>
        <p:nvSpPr>
          <p:cNvPr id="6" name="矩形: 圆角 21"/>
          <p:cNvSpPr/>
          <p:nvPr/>
        </p:nvSpPr>
        <p:spPr>
          <a:xfrm>
            <a:off x="935020" y="2160002"/>
            <a:ext cx="1257297" cy="868240"/>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4400"/>
              </a:lnSpc>
            </a:pPr>
            <a:r>
              <a:rPr lang="en-US" altLang="zh-CN"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02</a:t>
            </a:r>
            <a:endParaRPr lang="zh-CN" altLang="en-US"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7" name="矩形: 圆角 20"/>
          <p:cNvSpPr/>
          <p:nvPr/>
        </p:nvSpPr>
        <p:spPr>
          <a:xfrm>
            <a:off x="2256860" y="2842928"/>
            <a:ext cx="9350280" cy="99553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复现攻击测试（蒋佳杰）</a:t>
            </a:r>
          </a:p>
        </p:txBody>
      </p:sp>
      <p:sp>
        <p:nvSpPr>
          <p:cNvPr id="8" name="矩形: 圆角 21"/>
          <p:cNvSpPr/>
          <p:nvPr/>
        </p:nvSpPr>
        <p:spPr>
          <a:xfrm>
            <a:off x="974522" y="2965095"/>
            <a:ext cx="1165021" cy="751201"/>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4400"/>
              </a:lnSpc>
            </a:pPr>
            <a:r>
              <a:rPr lang="en-US" altLang="zh-CN"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03</a:t>
            </a:r>
            <a:endParaRPr lang="zh-CN" altLang="en-US"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9" name="矩形: 圆角 20"/>
          <p:cNvSpPr/>
          <p:nvPr/>
        </p:nvSpPr>
        <p:spPr>
          <a:xfrm>
            <a:off x="5402912" y="4464228"/>
            <a:ext cx="4740296" cy="841999"/>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10" name="矩形: 圆角 21"/>
          <p:cNvSpPr/>
          <p:nvPr/>
        </p:nvSpPr>
        <p:spPr>
          <a:xfrm>
            <a:off x="1039064" y="3693323"/>
            <a:ext cx="1035935" cy="770905"/>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4400"/>
              </a:lnSpc>
            </a:pPr>
            <a:r>
              <a:rPr lang="en-US" altLang="zh-CN"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04</a:t>
            </a:r>
            <a:endParaRPr lang="zh-CN" altLang="en-US" sz="40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15" name="矩形: 圆角 20"/>
          <p:cNvSpPr/>
          <p:nvPr/>
        </p:nvSpPr>
        <p:spPr>
          <a:xfrm>
            <a:off x="2192318" y="1311905"/>
            <a:ext cx="9116358" cy="99553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论文选择与报告</a:t>
            </a:r>
            <a:r>
              <a:rPr lang="en-US" altLang="zh-CN"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PPT</a:t>
            </a:r>
            <a:r>
              <a:rPr lang="zh-CN" altLang="en-US" sz="36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撰写（邹佳衡）</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文本框 114"/>
          <p:cNvSpPr txBox="1"/>
          <p:nvPr/>
        </p:nvSpPr>
        <p:spPr>
          <a:xfrm>
            <a:off x="7036091" y="2315498"/>
            <a:ext cx="3068532" cy="2554545"/>
          </a:xfrm>
          <a:prstGeom prst="rect">
            <a:avLst/>
          </a:prstGeom>
          <a:noFill/>
        </p:spPr>
        <p:txBody>
          <a:bodyPr wrap="none" rtlCol="0">
            <a:spAutoFit/>
          </a:bodyPr>
          <a:lstStyle/>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论文选择与原理</a:t>
            </a: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汇报人：邹佳衡</a:t>
            </a:r>
          </a:p>
        </p:txBody>
      </p:sp>
      <p:sp>
        <p:nvSpPr>
          <p:cNvPr id="23" name="文本框 22"/>
          <p:cNvSpPr txBox="1"/>
          <p:nvPr/>
        </p:nvSpPr>
        <p:spPr>
          <a:xfrm>
            <a:off x="552761" y="3228747"/>
            <a:ext cx="1672253" cy="1862048"/>
          </a:xfrm>
          <a:prstGeom prst="rect">
            <a:avLst/>
          </a:prstGeom>
          <a:noFill/>
        </p:spPr>
        <p:txBody>
          <a:bodyPr wrap="none" rtlCol="0">
            <a:spAutoFit/>
          </a:bodyPr>
          <a:lstStyle/>
          <a:p>
            <a:pPr algn="ctr"/>
            <a:r>
              <a:rPr kumimoji="1" lang="en-US" altLang="zh-CN" sz="11500" b="1" dirty="0">
                <a:latin typeface="方正小标宋简体" panose="02000000000000000000" pitchFamily="2" charset="-122"/>
                <a:ea typeface="方正小标宋简体" panose="02000000000000000000" pitchFamily="2" charset="-122"/>
                <a:cs typeface="Arial" panose="020B0604020202020204" pitchFamily="34" charset="0"/>
              </a:rPr>
              <a:t>01</a:t>
            </a:r>
            <a:endParaRPr kumimoji="1" lang="zh-CN" altLang="en-US" sz="96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116" name="文本框 115"/>
          <p:cNvSpPr txBox="1"/>
          <p:nvPr/>
        </p:nvSpPr>
        <p:spPr>
          <a:xfrm>
            <a:off x="571998" y="2977218"/>
            <a:ext cx="1633781" cy="523220"/>
          </a:xfrm>
          <a:prstGeom prst="rect">
            <a:avLst/>
          </a:prstGeom>
          <a:noFill/>
        </p:spPr>
        <p:txBody>
          <a:bodyPr wrap="square" rtlCol="0">
            <a:spAutoFit/>
          </a:bodyPr>
          <a:lstStyle/>
          <a:p>
            <a:pPr algn="dist"/>
            <a:r>
              <a:rPr kumimoji="1" lang="en-US" altLang="zh-CN" sz="2800" b="1" dirty="0">
                <a:latin typeface="方正小标宋简体" panose="02000000000000000000" pitchFamily="2" charset="-122"/>
                <a:ea typeface="方正小标宋简体" panose="02000000000000000000" pitchFamily="2" charset="-122"/>
                <a:cs typeface="Arial" panose="020B0604020202020204" pitchFamily="34" charset="0"/>
              </a:rPr>
              <a:t>PART</a:t>
            </a:r>
            <a:endParaRPr kumimoji="1" lang="zh-CN" altLang="en-US" sz="28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9" name="矩形 8"/>
          <p:cNvSpPr/>
          <p:nvPr/>
        </p:nvSpPr>
        <p:spPr>
          <a:xfrm>
            <a:off x="0" y="5144012"/>
            <a:ext cx="3304674"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小标宋简体" panose="02000000000000000000" pitchFamily="2" charset="-122"/>
              <a:ea typeface="方正小标宋简体" panose="02000000000000000000" pitchFamily="2" charset="-122"/>
            </a:endParaRPr>
          </a:p>
        </p:txBody>
      </p:sp>
      <p:cxnSp>
        <p:nvCxnSpPr>
          <p:cNvPr id="11" name="直接连接符 10"/>
          <p:cNvCxnSpPr/>
          <p:nvPr/>
        </p:nvCxnSpPr>
        <p:spPr>
          <a:xfrm rot="5400000">
            <a:off x="9368589" y="3690412"/>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8866" y="615471"/>
            <a:ext cx="1633034" cy="16228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advClick="0" advTm="3000">
        <p:cut/>
      </p:transition>
    </mc:Choice>
    <mc:Fallback xmlns="">
      <p:transition advClick="0" advTm="3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par>
                          <p:cTn id="8" fill="hold">
                            <p:stCondLst>
                              <p:cond delay="500"/>
                            </p:stCondLst>
                            <p:childTnLst>
                              <p:par>
                                <p:cTn id="9" presetID="17" presetClass="entr" presetSubtype="10" fill="hold" grpId="0" nodeType="afterEffect">
                                  <p:stCondLst>
                                    <p:cond delay="0"/>
                                  </p:stCondLst>
                                  <p:iterate type="lt">
                                    <p:tmPct val="10000"/>
                                  </p:iterate>
                                  <p:childTnLst>
                                    <p:set>
                                      <p:cBhvr>
                                        <p:cTn id="10" dur="1" fill="hold">
                                          <p:stCondLst>
                                            <p:cond delay="0"/>
                                          </p:stCondLst>
                                        </p:cTn>
                                        <p:tgtEl>
                                          <p:spTgt spid="115"/>
                                        </p:tgtEl>
                                        <p:attrNameLst>
                                          <p:attrName>style.visibility</p:attrName>
                                        </p:attrNameLst>
                                      </p:cBhvr>
                                      <p:to>
                                        <p:strVal val="visible"/>
                                      </p:to>
                                    </p:set>
                                    <p:anim calcmode="lin" valueType="num">
                                      <p:cBhvr>
                                        <p:cTn id="11" dur="500" fill="hold"/>
                                        <p:tgtEl>
                                          <p:spTgt spid="115"/>
                                        </p:tgtEl>
                                        <p:attrNameLst>
                                          <p:attrName>ppt_w</p:attrName>
                                        </p:attrNameLst>
                                      </p:cBhvr>
                                      <p:tavLst>
                                        <p:tav tm="0">
                                          <p:val>
                                            <p:fltVal val="0"/>
                                          </p:val>
                                        </p:tav>
                                        <p:tav tm="100000">
                                          <p:val>
                                            <p:strVal val="#ppt_w"/>
                                          </p:val>
                                        </p:tav>
                                      </p:tavLst>
                                    </p:anim>
                                    <p:anim calcmode="lin" valueType="num">
                                      <p:cBhvr>
                                        <p:cTn id="12" dur="500" fill="hold"/>
                                        <p:tgtEl>
                                          <p:spTgt spid="115"/>
                                        </p:tgtEl>
                                        <p:attrNameLst>
                                          <p:attrName>ppt_h</p:attrName>
                                        </p:attrNameLst>
                                      </p:cBhvr>
                                      <p:tavLst>
                                        <p:tav tm="0">
                                          <p:val>
                                            <p:strVal val="#ppt_h"/>
                                          </p:val>
                                        </p:tav>
                                        <p:tav tm="100000">
                                          <p:val>
                                            <p:strVal val="#ppt_h"/>
                                          </p:val>
                                        </p:tav>
                                      </p:tavLst>
                                    </p:anim>
                                  </p:childTnLst>
                                </p:cTn>
                              </p:par>
                            </p:childTnLst>
                          </p:cTn>
                        </p:par>
                        <p:par>
                          <p:cTn id="13" fill="hold">
                            <p:stCondLst>
                              <p:cond delay="1650"/>
                            </p:stCondLst>
                            <p:childTnLst>
                              <p:par>
                                <p:cTn id="14" presetID="10" presetClass="entr" presetSubtype="0"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23" grpId="0"/>
      <p:bldP spid="1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p:cNvSpPr txBox="1"/>
          <p:nvPr/>
        </p:nvSpPr>
        <p:spPr>
          <a:xfrm>
            <a:off x="447675" y="595630"/>
            <a:ext cx="10262870" cy="5644515"/>
          </a:xfrm>
          <a:prstGeom prst="rect">
            <a:avLst/>
          </a:prstGeom>
          <a:noFill/>
        </p:spPr>
        <p:txBody>
          <a:bodyPr wrap="square" rtlCol="0">
            <a:noAutofit/>
          </a:bodyPr>
          <a:lstStyle/>
          <a:p>
            <a:r>
              <a:rPr lang="zh-CN" altLang="zh-CN" b="1" dirty="0"/>
              <a:t>《数字水印在图像传输中的应用》（陈国庆等，2021）</a:t>
            </a:r>
            <a:endParaRPr lang="en-US" altLang="zh-CN" b="1" dirty="0"/>
          </a:p>
          <a:p>
            <a:endParaRPr lang="en-US" altLang="zh-CN" b="1" dirty="0"/>
          </a:p>
          <a:p>
            <a:r>
              <a:rPr lang="zh-CN" altLang="zh-CN" dirty="0"/>
              <a:t>这篇论文的作者是陈国庆，郑若芸，胡伊，蒋晓丹，作者单位是衢州学院电气与信息工程学院，其发布于《现代信息科技》2021年第5卷第18期，页码142-145，DOI编号为10.19850/j.cnki.2096-4706.2021.18.036</a:t>
            </a:r>
            <a:r>
              <a:rPr lang="zh-CN" altLang="en-US" dirty="0"/>
              <a:t>。</a:t>
            </a:r>
            <a:r>
              <a:rPr lang="zh-CN" altLang="zh-CN" dirty="0"/>
              <a:t>该论文针对图像在传输过程中的版权保护问题，提出了一种基于离散小波变换的数字水印算法。主要原理和过程如下：</a:t>
            </a:r>
          </a:p>
          <a:p>
            <a:endParaRPr lang="en-US" altLang="zh-CN" dirty="0"/>
          </a:p>
          <a:p>
            <a:r>
              <a:rPr lang="zh-CN" altLang="zh-CN" dirty="0"/>
              <a:t>1. 水印图像处理 — Arnold置乱：对水印图像进行Arnold变换置乱，使水印信息变得不可辨识，增强安全性。只有掌握置乱次数密钥的人才能恢复原始水印。</a:t>
            </a:r>
          </a:p>
          <a:p>
            <a:endParaRPr lang="zh-CN" altLang="zh-CN" dirty="0"/>
          </a:p>
          <a:p>
            <a:r>
              <a:rPr lang="zh-CN" altLang="zh-CN" dirty="0"/>
              <a:t>2. 载体图像处理 — 二级DWT隐藏：对载体图像进行二级离散小波变换。DWT能将图像分解为低频子带（LL）和高频子带（LH、HL、HH），其中低频子带集中了图像的主要能量，选择在此嵌入水印可以兼顾不可见性和鲁棒性。</a:t>
            </a:r>
          </a:p>
          <a:p>
            <a:endParaRPr lang="zh-CN" altLang="zh-CN" dirty="0"/>
          </a:p>
          <a:p>
            <a:r>
              <a:rPr lang="zh-CN" altLang="zh-CN" dirty="0"/>
              <a:t>3. 水印嵌入：将置乱后的水印信息嵌入到载体图像的二级低频系数中——低频区域对常见图像处理操作不敏感，嵌入于此能提高鲁棒性。</a:t>
            </a:r>
          </a:p>
          <a:p>
            <a:endParaRPr lang="zh-CN" altLang="zh-CN" dirty="0"/>
          </a:p>
          <a:p>
            <a:r>
              <a:rPr lang="zh-CN" altLang="zh-CN" dirty="0"/>
              <a:t>4. 盲提取：该算法支持盲水印提取，即提取水印时无需原始载体图像的参与，这在实际应用中非常重要（因为传输接收方通常无法获得原始图像）。</a:t>
            </a:r>
          </a:p>
          <a:p>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p:cNvSpPr txBox="1"/>
          <p:nvPr/>
        </p:nvSpPr>
        <p:spPr>
          <a:xfrm>
            <a:off x="473413" y="642026"/>
            <a:ext cx="10261897" cy="5632311"/>
          </a:xfrm>
          <a:prstGeom prst="rect">
            <a:avLst/>
          </a:prstGeom>
          <a:noFill/>
        </p:spPr>
        <p:txBody>
          <a:bodyPr wrap="square" rtlCol="0">
            <a:spAutoFit/>
          </a:bodyPr>
          <a:lstStyle/>
          <a:p>
            <a:r>
              <a:rPr lang="en-US" altLang="zh-CN" dirty="0"/>
              <a:t>Arnold</a:t>
            </a:r>
            <a:r>
              <a:rPr lang="zh-CN" altLang="en-US" dirty="0"/>
              <a:t>置换：</a:t>
            </a:r>
            <a:endParaRPr lang="en-US" altLang="zh-CN" dirty="0"/>
          </a:p>
          <a:p>
            <a:endParaRPr lang="en-US" altLang="zh-CN" dirty="0"/>
          </a:p>
          <a:p>
            <a:r>
              <a:rPr lang="zh-CN" altLang="zh-CN" dirty="0"/>
              <a:t>Arnold变换是苏联数学家Vladimir Arnold于1967年提出的一种混沌映射。他用一张猫脸图像演示该变换的置乱效果，因此得名。</a:t>
            </a:r>
            <a:r>
              <a:rPr lang="zh-CN" altLang="en-US" dirty="0"/>
              <a:t>其</a:t>
            </a:r>
            <a:r>
              <a:rPr lang="zh-CN" altLang="zh-CN" dirty="0"/>
              <a:t>核心思想</a:t>
            </a:r>
            <a:r>
              <a:rPr lang="zh-CN" altLang="en-US" dirty="0"/>
              <a:t>是</a:t>
            </a:r>
            <a:r>
              <a:rPr lang="zh-CN" altLang="zh-CN" dirty="0"/>
              <a:t>：通过线性变换将图像像素坐标按特定规则"打乱"，若干次迭代后图像变得完全不可辨识。</a:t>
            </a:r>
            <a:endParaRPr lang="en-US" altLang="zh-CN" dirty="0"/>
          </a:p>
          <a:p>
            <a:endParaRPr lang="en-US" altLang="zh-CN" dirty="0"/>
          </a:p>
          <a:p>
            <a:r>
              <a:rPr lang="zh-CN" altLang="zh-CN" dirty="0"/>
              <a:t>对于一幅 N×N 的图像，Arnold变换定义为:</a:t>
            </a:r>
            <a:endParaRPr lang="en-US" altLang="zh-CN" dirty="0"/>
          </a:p>
          <a:p>
            <a:endParaRPr lang="en-US" altLang="zh-CN" dirty="0"/>
          </a:p>
          <a:p>
            <a:r>
              <a:rPr lang="zh-CN" altLang="zh-CN" dirty="0"/>
              <a:t>其中 (x, y) 是变换前的像素坐标，(x', y') 是变换后的坐标，N 是图像边长，所有运算在模 N 意义下进行。把图像中每个像素按这个规则移动到新位置，重复若干次，整幅图就被"搅乱"了。</a:t>
            </a:r>
          </a:p>
          <a:p>
            <a:endParaRPr lang="en-US" altLang="zh-CN" dirty="0"/>
          </a:p>
          <a:p>
            <a:r>
              <a:rPr lang="zh-CN" altLang="zh-CN" dirty="0"/>
              <a:t>Arnold变换最重要的性质是</a:t>
            </a:r>
            <a:r>
              <a:rPr lang="zh-CN" altLang="en-US" b="1" dirty="0"/>
              <a:t>周期性</a:t>
            </a:r>
            <a:r>
              <a:rPr lang="zh-CN" altLang="zh-CN" dirty="0"/>
              <a:t>——经过有限次变换后，图像必定恢复原始状态。周期取决于图像尺寸 N：N=64 → 周期 T=48（</a:t>
            </a:r>
            <a:r>
              <a:rPr lang="zh-CN" altLang="en-US" dirty="0"/>
              <a:t>我们</a:t>
            </a:r>
            <a:r>
              <a:rPr lang="zh-CN" altLang="zh-CN" dirty="0"/>
              <a:t>实验的水印尺寸）</a:t>
            </a:r>
          </a:p>
          <a:p>
            <a:endParaRPr lang="en-US" altLang="zh-CN" dirty="0"/>
          </a:p>
          <a:p>
            <a:r>
              <a:rPr lang="zh-CN" altLang="zh-CN" dirty="0"/>
              <a:t>这个性质是算法盲提取的关键：嵌入时正向置乱 k=20 次 → 提取时再正向变换 28 次，图像就恢复原样。</a:t>
            </a:r>
          </a:p>
          <a:p>
            <a:endParaRPr lang="en-US" altLang="zh-CN" dirty="0"/>
          </a:p>
          <a:p>
            <a:r>
              <a:rPr lang="zh-CN" altLang="zh-CN" dirty="0"/>
              <a:t>行列式为1且矩阵在模 N 下可逆，所以Arnold变换是一个双射——原图中每个像素被唯一地映射到新位置，不会出现两个像素挤到同一位置（信息丢失），也不会出现某个位置没有来源像素（空洞）。这保证了置乱过程的完全可逆性。</a:t>
            </a:r>
            <a:endParaRPr lang="en-US" altLang="zh-CN" dirty="0"/>
          </a:p>
        </p:txBody>
      </p:sp>
      <p:pic>
        <p:nvPicPr>
          <p:cNvPr id="4" name="图片 3">
            <a:extLst>
              <a:ext uri="{FF2B5EF4-FFF2-40B4-BE49-F238E27FC236}">
                <a16:creationId xmlns:a16="http://schemas.microsoft.com/office/drawing/2014/main" id="{1A132682-7DA9-0A9A-87E9-B0BE5A187563}"/>
              </a:ext>
            </a:extLst>
          </p:cNvPr>
          <p:cNvPicPr>
            <a:picLocks noChangeAspect="1"/>
          </p:cNvPicPr>
          <p:nvPr/>
        </p:nvPicPr>
        <p:blipFill>
          <a:blip r:embed="rId4"/>
          <a:stretch>
            <a:fillRect/>
          </a:stretch>
        </p:blipFill>
        <p:spPr>
          <a:xfrm>
            <a:off x="5140603" y="2334288"/>
            <a:ext cx="2703825" cy="5117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8" name="文本框 7"/>
          <p:cNvSpPr txBox="1"/>
          <p:nvPr/>
        </p:nvSpPr>
        <p:spPr>
          <a:xfrm>
            <a:off x="473412" y="335845"/>
            <a:ext cx="10136221" cy="6186309"/>
          </a:xfrm>
          <a:prstGeom prst="rect">
            <a:avLst/>
          </a:prstGeom>
          <a:noFill/>
        </p:spPr>
        <p:txBody>
          <a:bodyPr wrap="square" rtlCol="0">
            <a:spAutoFit/>
          </a:bodyPr>
          <a:lstStyle/>
          <a:p>
            <a:r>
              <a:rPr lang="zh-CN" altLang="zh-CN" dirty="0"/>
              <a:t>二级离散小波变换（DWT）及其在水印隐藏中的应用</a:t>
            </a:r>
            <a:r>
              <a:rPr lang="zh-CN" altLang="en-US" dirty="0"/>
              <a:t>：</a:t>
            </a:r>
            <a:endParaRPr lang="en-US" altLang="zh-CN" dirty="0"/>
          </a:p>
          <a:p>
            <a:endParaRPr lang="en-US" altLang="zh-CN" dirty="0"/>
          </a:p>
          <a:p>
            <a:r>
              <a:rPr lang="zh-CN" altLang="zh-CN" dirty="0"/>
              <a:t>传统的傅里叶变换将信号分解为不同频率的正弦波，但丢失了时间/空间信息。小波变换的优势在于同时保留频率和空间位置信息——它能告诉你"图像的哪个位置有怎样的频率成分"。</a:t>
            </a:r>
          </a:p>
          <a:p>
            <a:r>
              <a:rPr lang="zh-CN" altLang="zh-CN" dirty="0"/>
              <a:t>对于图像处理，DWT将图像分解为四个子带：</a:t>
            </a:r>
          </a:p>
          <a:p>
            <a:r>
              <a:rPr lang="zh-CN" altLang="zh-CN" dirty="0"/>
              <a:t>LL（低频近似子带）：图像的整体轮廓、主体结构和绝大部分能量集中于此</a:t>
            </a:r>
            <a:r>
              <a:rPr lang="zh-CN" altLang="en-US" dirty="0"/>
              <a:t>；</a:t>
            </a:r>
            <a:endParaRPr lang="zh-CN" altLang="zh-CN" dirty="0"/>
          </a:p>
          <a:p>
            <a:r>
              <a:rPr lang="zh-CN" altLang="zh-CN" dirty="0"/>
              <a:t>LH（水平高频子带）：水平方向的边缘和纹理细节</a:t>
            </a:r>
            <a:r>
              <a:rPr lang="zh-CN" altLang="en-US" dirty="0"/>
              <a:t>；</a:t>
            </a:r>
            <a:endParaRPr lang="zh-CN" altLang="zh-CN" dirty="0"/>
          </a:p>
          <a:p>
            <a:r>
              <a:rPr lang="zh-CN" altLang="zh-CN" dirty="0"/>
              <a:t>HL（垂直高频子带）：垂直方向的边缘和纹理细节</a:t>
            </a:r>
            <a:r>
              <a:rPr lang="zh-CN" altLang="en-US" dirty="0"/>
              <a:t>；</a:t>
            </a:r>
            <a:endParaRPr lang="zh-CN" altLang="zh-CN" dirty="0"/>
          </a:p>
          <a:p>
            <a:r>
              <a:rPr lang="zh-CN" altLang="zh-CN" dirty="0"/>
              <a:t>HH（对角高频子带）：对角线方向的高频噪声和细节</a:t>
            </a:r>
            <a:r>
              <a:rPr lang="zh-CN" altLang="en-US" dirty="0"/>
              <a:t>。</a:t>
            </a:r>
            <a:endParaRPr lang="en-US" altLang="zh-CN" dirty="0"/>
          </a:p>
          <a:p>
            <a:r>
              <a:rPr lang="zh-CN" altLang="zh-CN" dirty="0"/>
              <a:t>二级DWT是在一级分解的基础上，只对LL₁子带继续做一次DWT</a:t>
            </a:r>
            <a:r>
              <a:rPr lang="zh-CN" altLang="en-US" dirty="0"/>
              <a:t>。</a:t>
            </a:r>
            <a:endParaRPr lang="en-US" altLang="zh-CN" dirty="0"/>
          </a:p>
          <a:p>
            <a:endParaRPr lang="en-US" altLang="zh-CN" dirty="0"/>
          </a:p>
          <a:p>
            <a:r>
              <a:rPr lang="zh-CN" altLang="zh-CN" dirty="0"/>
              <a:t>论文选择在二级低频子带LL₂嵌入水印，原因有二：</a:t>
            </a:r>
          </a:p>
          <a:p>
            <a:endParaRPr lang="en-US" altLang="zh-CN" dirty="0"/>
          </a:p>
          <a:p>
            <a:r>
              <a:rPr lang="zh-CN" altLang="zh-CN" dirty="0"/>
              <a:t>修改低频系数对人眼感知的影响相对较小——因为修改的是“</a:t>
            </a:r>
            <a:r>
              <a:rPr lang="zh-CN" altLang="en-US" dirty="0"/>
              <a:t>大致轮廓</a:t>
            </a:r>
            <a:r>
              <a:rPr lang="zh-CN" altLang="zh-CN" dirty="0"/>
              <a:t>”，系数值的微小调整不会产生明显的</a:t>
            </a:r>
            <a:r>
              <a:rPr lang="zh-CN" altLang="en-US" dirty="0"/>
              <a:t>感觉</a:t>
            </a:r>
            <a:r>
              <a:rPr lang="zh-CN" altLang="zh-CN" dirty="0"/>
              <a:t>。实验中两张载体图像嵌入水印后的PSNR均超过30dB，人眼几乎看不出差异，验证了这一点。</a:t>
            </a:r>
          </a:p>
          <a:p>
            <a:r>
              <a:rPr lang="zh-CN" altLang="zh-CN" dirty="0"/>
              <a:t>低频子带对常见的信号处理操作具有较强的抵抗力：</a:t>
            </a:r>
          </a:p>
          <a:p>
            <a:r>
              <a:rPr lang="zh-CN" altLang="zh-CN" dirty="0"/>
              <a:t>JPEG压缩：DCT量化主要丢弃高频信息，低频系数几乎不动</a:t>
            </a:r>
            <a:r>
              <a:rPr lang="zh-CN" altLang="en-US" dirty="0"/>
              <a:t>；</a:t>
            </a:r>
            <a:endParaRPr lang="zh-CN" altLang="zh-CN" dirty="0"/>
          </a:p>
          <a:p>
            <a:r>
              <a:rPr lang="zh-CN" altLang="zh-CN" dirty="0"/>
              <a:t>滤波（高斯/中值）：平滑操作抹平的是高频噪声和细节，低频分量受影响</a:t>
            </a:r>
            <a:r>
              <a:rPr lang="zh-CN" altLang="en-US" dirty="0"/>
              <a:t>；</a:t>
            </a:r>
            <a:endParaRPr lang="en-US" altLang="zh-CN" dirty="0"/>
          </a:p>
          <a:p>
            <a:r>
              <a:rPr lang="zh-CN" altLang="zh-CN" dirty="0"/>
              <a:t>噪声：随机噪声对低频系数的相对扰动较小</a:t>
            </a:r>
            <a:r>
              <a:rPr lang="zh-CN" altLang="en-US" dirty="0"/>
              <a:t>；</a:t>
            </a:r>
            <a:endParaRPr lang="en-US" altLang="zh-CN" dirty="0"/>
          </a:p>
          <a:p>
            <a:endParaRPr lang="zh-CN" altLang="zh-CN" dirty="0"/>
          </a:p>
          <a:p>
            <a:r>
              <a:rPr lang="zh-CN" altLang="zh-CN" dirty="0"/>
              <a:t>如果嵌入在高频子带</a:t>
            </a:r>
            <a:r>
              <a:rPr lang="zh-CN" altLang="en-US" dirty="0"/>
              <a:t>，</a:t>
            </a:r>
            <a:r>
              <a:rPr lang="zh-CN" altLang="zh-CN" dirty="0"/>
              <a:t>这些操作会严重破坏水印信息。</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D8270-16CC-1E17-10EF-8E7B6C08EDD9}"/>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1F0C410F-07E0-26A6-BB0E-E6AAB71B75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B37A274F-83A3-DACD-7838-940FB55272E7}"/>
              </a:ext>
            </a:extLst>
          </p:cNvPr>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水印嵌入公式</a:t>
            </a:r>
          </a:p>
        </p:txBody>
      </p:sp>
      <p:pic>
        <p:nvPicPr>
          <p:cNvPr id="6" name="图片 5">
            <a:extLst>
              <a:ext uri="{FF2B5EF4-FFF2-40B4-BE49-F238E27FC236}">
                <a16:creationId xmlns:a16="http://schemas.microsoft.com/office/drawing/2014/main" id="{59F91667-D056-EE01-99AE-C9DB02717F24}"/>
              </a:ext>
            </a:extLst>
          </p:cNvPr>
          <p:cNvPicPr>
            <a:picLocks noChangeAspect="1"/>
          </p:cNvPicPr>
          <p:nvPr/>
        </p:nvPicPr>
        <p:blipFill>
          <a:blip r:embed="rId4"/>
          <a:stretch>
            <a:fillRect/>
          </a:stretch>
        </p:blipFill>
        <p:spPr>
          <a:xfrm>
            <a:off x="2710289" y="1328754"/>
            <a:ext cx="6208016" cy="2251259"/>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DE45482-C82F-B4C9-2414-E844C9C9E4FF}"/>
                  </a:ext>
                </a:extLst>
              </p:cNvPr>
              <p:cNvSpPr txBox="1"/>
              <p:nvPr/>
            </p:nvSpPr>
            <p:spPr>
              <a:xfrm>
                <a:off x="1381727" y="4403616"/>
                <a:ext cx="8865140" cy="923330"/>
              </a:xfrm>
              <a:prstGeom prst="rect">
                <a:avLst/>
              </a:prstGeom>
              <a:noFill/>
            </p:spPr>
            <p:txBody>
              <a:bodyPr wrap="square" rtlCol="0">
                <a:spAutoFit/>
              </a:bodyPr>
              <a:lstStyle/>
              <a:p>
                <a:r>
                  <a:rPr lang="zh-CN" altLang="en-US" dirty="0"/>
                  <a:t>其中</a:t>
                </a:r>
                <a:r>
                  <a:rPr lang="en-US" altLang="zh-CN" dirty="0" err="1"/>
                  <a:t>Wa</a:t>
                </a:r>
                <a:r>
                  <a:rPr lang="zh-CN" altLang="en-US" dirty="0"/>
                  <a:t>是水印图像的比特流序列，只有</a:t>
                </a:r>
                <a:r>
                  <a:rPr lang="en-US" altLang="zh-CN" dirty="0"/>
                  <a:t>0</a:t>
                </a:r>
                <a:r>
                  <a:rPr lang="zh-CN" altLang="en-US" dirty="0"/>
                  <a:t>和</a:t>
                </a:r>
                <a:r>
                  <a:rPr lang="en-US" altLang="zh-CN" dirty="0"/>
                  <a:t>1</a:t>
                </a:r>
                <a:r>
                  <a:rPr lang="zh-CN" altLang="en-US" dirty="0"/>
                  <a:t>两种情况，</a:t>
                </a:r>
                <a:r>
                  <a:rPr lang="en-US" altLang="zh-CN" dirty="0" err="1"/>
                  <a:t>nw</a:t>
                </a:r>
                <a:r>
                  <a:rPr lang="zh-CN" altLang="en-US" dirty="0"/>
                  <a:t>是水印图像的分辨率，本次实验为</a:t>
                </a:r>
                <a:r>
                  <a:rPr lang="en-US" altLang="zh-CN" dirty="0"/>
                  <a:t>64</a:t>
                </a:r>
                <a:r>
                  <a:rPr lang="zh-CN" altLang="en-US" dirty="0"/>
                  <a:t>，</a:t>
                </a:r>
                <a:r>
                  <a:rPr lang="en-US" altLang="zh-CN" dirty="0"/>
                  <a:t>ca</a:t>
                </a:r>
                <a:r>
                  <a:rPr lang="zh-CN" altLang="en-US" dirty="0"/>
                  <a:t>是在二级小波分解的</a:t>
                </a:r>
                <a14:m>
                  <m:oMath xmlns:m="http://schemas.openxmlformats.org/officeDocument/2006/math">
                    <m:r>
                      <a:rPr lang="zh-CN" altLang="en-US" i="1">
                        <a:latin typeface="Cambria Math" panose="02040503050406030204" pitchFamily="18" charset="0"/>
                      </a:rPr>
                      <m:t>𝐿</m:t>
                    </m:r>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en-US" altLang="zh-CN">
                            <a:latin typeface="Cambria Math" panose="02040503050406030204" pitchFamily="18" charset="0"/>
                          </a:rPr>
                          <m:t>2</m:t>
                        </m:r>
                      </m:sub>
                    </m:sSub>
                  </m:oMath>
                </a14:m>
                <a:r>
                  <a:rPr lang="zh-CN" altLang="zh-CN" dirty="0"/>
                  <a:t> </a:t>
                </a:r>
                <a:r>
                  <a:rPr lang="zh-CN" altLang="en-US" dirty="0"/>
                  <a:t>中随机选取的嵌入点的小波值，</a:t>
                </a:r>
                <a:r>
                  <a:rPr lang="en-US" altLang="zh-CN" dirty="0"/>
                  <a:t>z</a:t>
                </a:r>
                <a:r>
                  <a:rPr lang="zh-CN" altLang="en-US" dirty="0"/>
                  <a:t>是</a:t>
                </a:r>
                <a:r>
                  <a:rPr lang="en-US" altLang="zh-CN" dirty="0"/>
                  <a:t>ca</a:t>
                </a:r>
                <a:r>
                  <a:rPr lang="zh-CN" altLang="en-US" dirty="0"/>
                  <a:t>模</a:t>
                </a:r>
                <a:r>
                  <a:rPr lang="en-US" altLang="zh-CN" dirty="0" err="1"/>
                  <a:t>nw</a:t>
                </a:r>
                <a:r>
                  <a:rPr lang="zh-CN" altLang="en-US" dirty="0"/>
                  <a:t>的余数，</a:t>
                </a:r>
                <a:r>
                  <a:rPr lang="en-US" altLang="zh-CN" dirty="0"/>
                  <a:t>ca’</a:t>
                </a:r>
                <a:r>
                  <a:rPr lang="zh-CN" altLang="en-US" dirty="0"/>
                  <a:t>是处理后写回的二级</a:t>
                </a:r>
                <a:r>
                  <a:rPr lang="en-US" altLang="zh-CN" dirty="0"/>
                  <a:t>DWT</a:t>
                </a:r>
                <a:r>
                  <a:rPr lang="zh-CN" altLang="en-US" dirty="0"/>
                  <a:t>小波值。</a:t>
                </a:r>
              </a:p>
            </p:txBody>
          </p:sp>
        </mc:Choice>
        <mc:Fallback xmlns="">
          <p:sp>
            <p:nvSpPr>
              <p:cNvPr id="8" name="文本框 7">
                <a:extLst>
                  <a:ext uri="{FF2B5EF4-FFF2-40B4-BE49-F238E27FC236}">
                    <a16:creationId xmlns:a16="http://schemas.microsoft.com/office/drawing/2014/main" id="{CDE45482-C82F-B4C9-2414-E844C9C9E4FF}"/>
                  </a:ext>
                </a:extLst>
              </p:cNvPr>
              <p:cNvSpPr txBox="1">
                <a:spLocks noRot="1" noChangeAspect="1" noMove="1" noResize="1" noEditPoints="1" noAdjustHandles="1" noChangeArrowheads="1" noChangeShapeType="1" noTextEdit="1"/>
              </p:cNvSpPr>
              <p:nvPr/>
            </p:nvSpPr>
            <p:spPr>
              <a:xfrm>
                <a:off x="1381727" y="4403616"/>
                <a:ext cx="8865140" cy="923330"/>
              </a:xfrm>
              <a:prstGeom prst="rect">
                <a:avLst/>
              </a:prstGeom>
              <a:blipFill>
                <a:blip r:embed="rId5"/>
                <a:stretch>
                  <a:fillRect l="-619" t="-5263" b="-98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1942142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61D4-14B5-0055-365D-141880F9CBAA}"/>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EE99B4D8-F8D8-FAD3-5B79-49F768CA43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676E32CD-3439-559E-6C87-A8F119A5F295}"/>
              </a:ext>
            </a:extLst>
          </p:cNvPr>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图像素材</a:t>
            </a:r>
          </a:p>
        </p:txBody>
      </p:sp>
      <p:pic>
        <p:nvPicPr>
          <p:cNvPr id="4" name="图片 3">
            <a:extLst>
              <a:ext uri="{FF2B5EF4-FFF2-40B4-BE49-F238E27FC236}">
                <a16:creationId xmlns:a16="http://schemas.microsoft.com/office/drawing/2014/main" id="{00CC4E4B-C5D2-6709-8D95-282AC55497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127" y="1199293"/>
            <a:ext cx="4152237" cy="4152237"/>
          </a:xfrm>
          <a:prstGeom prst="rect">
            <a:avLst/>
          </a:prstGeom>
        </p:spPr>
      </p:pic>
      <p:sp>
        <p:nvSpPr>
          <p:cNvPr id="5" name="文本框 4">
            <a:extLst>
              <a:ext uri="{FF2B5EF4-FFF2-40B4-BE49-F238E27FC236}">
                <a16:creationId xmlns:a16="http://schemas.microsoft.com/office/drawing/2014/main" id="{C731A1E4-AFC5-E5C0-9404-3E2A826EB2EA}"/>
              </a:ext>
            </a:extLst>
          </p:cNvPr>
          <p:cNvSpPr txBox="1"/>
          <p:nvPr/>
        </p:nvSpPr>
        <p:spPr>
          <a:xfrm>
            <a:off x="478128" y="5622588"/>
            <a:ext cx="4152237" cy="373508"/>
          </a:xfrm>
          <a:prstGeom prst="rect">
            <a:avLst/>
          </a:prstGeom>
          <a:noFill/>
        </p:spPr>
        <p:txBody>
          <a:bodyPr wrap="square" rtlCol="0">
            <a:spAutoFit/>
          </a:bodyPr>
          <a:lstStyle/>
          <a:p>
            <a:pPr algn="ctr"/>
            <a:r>
              <a:rPr lang="zh-CN" altLang="en-US" dirty="0"/>
              <a:t>载体图像（</a:t>
            </a:r>
            <a:r>
              <a:rPr lang="en-US" altLang="zh-CN" dirty="0"/>
              <a:t>1</a:t>
            </a:r>
            <a:r>
              <a:rPr lang="zh-CN" altLang="en-US" dirty="0"/>
              <a:t>）</a:t>
            </a:r>
            <a:r>
              <a:rPr lang="en-US" altLang="zh-CN" dirty="0"/>
              <a:t>512x512</a:t>
            </a:r>
            <a:r>
              <a:rPr lang="zh-CN" altLang="en-US" dirty="0"/>
              <a:t>灰度图</a:t>
            </a:r>
          </a:p>
        </p:txBody>
      </p:sp>
      <p:pic>
        <p:nvPicPr>
          <p:cNvPr id="7" name="图片 6">
            <a:extLst>
              <a:ext uri="{FF2B5EF4-FFF2-40B4-BE49-F238E27FC236}">
                <a16:creationId xmlns:a16="http://schemas.microsoft.com/office/drawing/2014/main" id="{E120EC6A-5BD5-31E1-9105-A83556103B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7105" y="1199293"/>
            <a:ext cx="4152237" cy="4152237"/>
          </a:xfrm>
          <a:prstGeom prst="rect">
            <a:avLst/>
          </a:prstGeom>
        </p:spPr>
      </p:pic>
      <p:sp>
        <p:nvSpPr>
          <p:cNvPr id="9" name="文本框 8">
            <a:extLst>
              <a:ext uri="{FF2B5EF4-FFF2-40B4-BE49-F238E27FC236}">
                <a16:creationId xmlns:a16="http://schemas.microsoft.com/office/drawing/2014/main" id="{B2A15BE2-3B3D-78D4-7DE3-E65CB5861BD1}"/>
              </a:ext>
            </a:extLst>
          </p:cNvPr>
          <p:cNvSpPr txBox="1"/>
          <p:nvPr/>
        </p:nvSpPr>
        <p:spPr>
          <a:xfrm>
            <a:off x="4877104" y="5622587"/>
            <a:ext cx="4152237" cy="373508"/>
          </a:xfrm>
          <a:prstGeom prst="rect">
            <a:avLst/>
          </a:prstGeom>
          <a:noFill/>
        </p:spPr>
        <p:txBody>
          <a:bodyPr wrap="square" rtlCol="0">
            <a:spAutoFit/>
          </a:bodyPr>
          <a:lstStyle/>
          <a:p>
            <a:pPr algn="ctr"/>
            <a:r>
              <a:rPr lang="zh-CN" altLang="en-US" dirty="0"/>
              <a:t>载体图像（</a:t>
            </a:r>
            <a:r>
              <a:rPr lang="en-US" altLang="zh-CN" dirty="0"/>
              <a:t>2</a:t>
            </a:r>
            <a:r>
              <a:rPr lang="zh-CN" altLang="en-US" dirty="0"/>
              <a:t>）</a:t>
            </a:r>
            <a:r>
              <a:rPr lang="en-US" altLang="zh-CN" dirty="0"/>
              <a:t>512x512</a:t>
            </a:r>
            <a:r>
              <a:rPr lang="zh-CN" altLang="en-US" dirty="0"/>
              <a:t>灰度图</a:t>
            </a:r>
          </a:p>
        </p:txBody>
      </p:sp>
      <p:pic>
        <p:nvPicPr>
          <p:cNvPr id="11" name="图片 10">
            <a:extLst>
              <a:ext uri="{FF2B5EF4-FFF2-40B4-BE49-F238E27FC236}">
                <a16:creationId xmlns:a16="http://schemas.microsoft.com/office/drawing/2014/main" id="{09D4170E-01CF-E66A-7A57-F7547498CB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76083" y="1710485"/>
            <a:ext cx="2437790" cy="2437790"/>
          </a:xfrm>
          <a:prstGeom prst="rect">
            <a:avLst/>
          </a:prstGeom>
        </p:spPr>
      </p:pic>
      <p:sp>
        <p:nvSpPr>
          <p:cNvPr id="12" name="文本框 11">
            <a:extLst>
              <a:ext uri="{FF2B5EF4-FFF2-40B4-BE49-F238E27FC236}">
                <a16:creationId xmlns:a16="http://schemas.microsoft.com/office/drawing/2014/main" id="{2C386869-298E-6F95-2880-2BD256DBC572}"/>
              </a:ext>
            </a:extLst>
          </p:cNvPr>
          <p:cNvSpPr txBox="1"/>
          <p:nvPr/>
        </p:nvSpPr>
        <p:spPr>
          <a:xfrm>
            <a:off x="8418859" y="4415754"/>
            <a:ext cx="4152237" cy="373508"/>
          </a:xfrm>
          <a:prstGeom prst="rect">
            <a:avLst/>
          </a:prstGeom>
          <a:noFill/>
        </p:spPr>
        <p:txBody>
          <a:bodyPr wrap="square" rtlCol="0">
            <a:spAutoFit/>
          </a:bodyPr>
          <a:lstStyle/>
          <a:p>
            <a:pPr algn="ctr"/>
            <a:r>
              <a:rPr lang="zh-CN" altLang="en-US" dirty="0"/>
              <a:t>水印图像 </a:t>
            </a:r>
            <a:r>
              <a:rPr lang="en-US" altLang="zh-CN" dirty="0"/>
              <a:t>64x64</a:t>
            </a:r>
            <a:r>
              <a:rPr lang="zh-CN" altLang="en-US" dirty="0"/>
              <a:t>二值图</a:t>
            </a:r>
          </a:p>
        </p:txBody>
      </p:sp>
    </p:spTree>
    <p:extLst>
      <p:ext uri="{BB962C8B-B14F-4D97-AF65-F5344CB8AC3E}">
        <p14:creationId xmlns:p14="http://schemas.microsoft.com/office/powerpoint/2010/main" val="32867797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文本框 114"/>
          <p:cNvSpPr txBox="1"/>
          <p:nvPr/>
        </p:nvSpPr>
        <p:spPr>
          <a:xfrm>
            <a:off x="6412568" y="2485915"/>
            <a:ext cx="3892476" cy="2554545"/>
          </a:xfrm>
          <a:prstGeom prst="rect">
            <a:avLst/>
          </a:prstGeom>
          <a:noFill/>
        </p:spPr>
        <p:txBody>
          <a:bodyPr wrap="none" rtlCol="0">
            <a:spAutoFit/>
          </a:bodyPr>
          <a:lstStyle/>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复现水印嵌入和提取</a:t>
            </a: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汇报人：葛佳琦</a:t>
            </a:r>
            <a:endParaRPr kumimoji="1" lang="en-US" altLang="zh-CN" sz="5400" b="1" dirty="0">
              <a:solidFill>
                <a:schemeClr val="tx1">
                  <a:lumMod val="95000"/>
                  <a:lumOff val="5000"/>
                </a:schemeClr>
              </a:solidFill>
              <a:latin typeface="Times New Roman" panose="02020603050405020304" pitchFamily="18" charset="0"/>
              <a:ea typeface="方正小标宋简体" panose="02000000000000000000" pitchFamily="2" charset="-122"/>
              <a:cs typeface="Times New Roman" panose="02020603050405020304" pitchFamily="18" charset="0"/>
              <a:sym typeface="思源黑体 CN Normal" panose="020B0400000000000000" pitchFamily="34" charset="-122"/>
            </a:endParaRPr>
          </a:p>
        </p:txBody>
      </p:sp>
      <p:sp>
        <p:nvSpPr>
          <p:cNvPr id="23" name="文本框 22"/>
          <p:cNvSpPr txBox="1"/>
          <p:nvPr/>
        </p:nvSpPr>
        <p:spPr>
          <a:xfrm>
            <a:off x="552761" y="3228747"/>
            <a:ext cx="1672254" cy="1862048"/>
          </a:xfrm>
          <a:prstGeom prst="rect">
            <a:avLst/>
          </a:prstGeom>
          <a:noFill/>
        </p:spPr>
        <p:txBody>
          <a:bodyPr wrap="none" rtlCol="0">
            <a:spAutoFit/>
          </a:bodyPr>
          <a:lstStyle/>
          <a:p>
            <a:pPr algn="ctr"/>
            <a:r>
              <a:rPr kumimoji="1" lang="en-US" altLang="zh-CN" sz="11500" b="1" dirty="0">
                <a:latin typeface="方正小标宋简体" panose="02000000000000000000" pitchFamily="2" charset="-122"/>
                <a:ea typeface="方正小标宋简体" panose="02000000000000000000" pitchFamily="2" charset="-122"/>
                <a:cs typeface="Arial" panose="020B0604020202020204" pitchFamily="34" charset="0"/>
              </a:rPr>
              <a:t>02</a:t>
            </a:r>
            <a:endParaRPr kumimoji="1" lang="zh-CN" altLang="en-US" sz="96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116" name="文本框 115"/>
          <p:cNvSpPr txBox="1"/>
          <p:nvPr/>
        </p:nvSpPr>
        <p:spPr>
          <a:xfrm>
            <a:off x="571998" y="2977218"/>
            <a:ext cx="1633781" cy="523220"/>
          </a:xfrm>
          <a:prstGeom prst="rect">
            <a:avLst/>
          </a:prstGeom>
          <a:noFill/>
        </p:spPr>
        <p:txBody>
          <a:bodyPr wrap="square" rtlCol="0">
            <a:spAutoFit/>
          </a:bodyPr>
          <a:lstStyle/>
          <a:p>
            <a:pPr algn="dist"/>
            <a:r>
              <a:rPr kumimoji="1" lang="en-US" altLang="zh-CN" sz="2800" b="1" dirty="0">
                <a:latin typeface="方正小标宋简体" panose="02000000000000000000" pitchFamily="2" charset="-122"/>
                <a:ea typeface="方正小标宋简体" panose="02000000000000000000" pitchFamily="2" charset="-122"/>
                <a:cs typeface="Arial" panose="020B0604020202020204" pitchFamily="34" charset="0"/>
              </a:rPr>
              <a:t>PART</a:t>
            </a:r>
            <a:endParaRPr kumimoji="1" lang="zh-CN" altLang="en-US" sz="28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9" name="矩形 8"/>
          <p:cNvSpPr/>
          <p:nvPr/>
        </p:nvSpPr>
        <p:spPr>
          <a:xfrm>
            <a:off x="0" y="5144012"/>
            <a:ext cx="3304674"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小标宋简体" panose="02000000000000000000" pitchFamily="2" charset="-122"/>
              <a:ea typeface="方正小标宋简体" panose="02000000000000000000" pitchFamily="2" charset="-122"/>
            </a:endParaRPr>
          </a:p>
        </p:txBody>
      </p:sp>
      <p:cxnSp>
        <p:nvCxnSpPr>
          <p:cNvPr id="11" name="直接连接符 10"/>
          <p:cNvCxnSpPr/>
          <p:nvPr/>
        </p:nvCxnSpPr>
        <p:spPr>
          <a:xfrm rot="5400000">
            <a:off x="9368589" y="3690412"/>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8866" y="615471"/>
            <a:ext cx="1633034" cy="16228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advClick="0" advTm="3000">
        <p:cut/>
      </p:transition>
    </mc:Choice>
    <mc:Fallback xmlns="">
      <p:transition advClick="0" advTm="3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par>
                          <p:cTn id="8" fill="hold">
                            <p:stCondLst>
                              <p:cond delay="500"/>
                            </p:stCondLst>
                            <p:childTnLst>
                              <p:par>
                                <p:cTn id="9" presetID="17" presetClass="entr" presetSubtype="10" fill="hold" grpId="0" nodeType="afterEffect">
                                  <p:stCondLst>
                                    <p:cond delay="0"/>
                                  </p:stCondLst>
                                  <p:iterate type="lt">
                                    <p:tmPct val="10000"/>
                                  </p:iterate>
                                  <p:childTnLst>
                                    <p:set>
                                      <p:cBhvr>
                                        <p:cTn id="10" dur="1" fill="hold">
                                          <p:stCondLst>
                                            <p:cond delay="0"/>
                                          </p:stCondLst>
                                        </p:cTn>
                                        <p:tgtEl>
                                          <p:spTgt spid="115"/>
                                        </p:tgtEl>
                                        <p:attrNameLst>
                                          <p:attrName>style.visibility</p:attrName>
                                        </p:attrNameLst>
                                      </p:cBhvr>
                                      <p:to>
                                        <p:strVal val="visible"/>
                                      </p:to>
                                    </p:set>
                                    <p:anim calcmode="lin" valueType="num">
                                      <p:cBhvr>
                                        <p:cTn id="11" dur="500" fill="hold"/>
                                        <p:tgtEl>
                                          <p:spTgt spid="115"/>
                                        </p:tgtEl>
                                        <p:attrNameLst>
                                          <p:attrName>ppt_w</p:attrName>
                                        </p:attrNameLst>
                                      </p:cBhvr>
                                      <p:tavLst>
                                        <p:tav tm="0">
                                          <p:val>
                                            <p:fltVal val="0"/>
                                          </p:val>
                                        </p:tav>
                                        <p:tav tm="100000">
                                          <p:val>
                                            <p:strVal val="#ppt_w"/>
                                          </p:val>
                                        </p:tav>
                                      </p:tavLst>
                                    </p:anim>
                                    <p:anim calcmode="lin" valueType="num">
                                      <p:cBhvr>
                                        <p:cTn id="12" dur="500" fill="hold"/>
                                        <p:tgtEl>
                                          <p:spTgt spid="115"/>
                                        </p:tgtEl>
                                        <p:attrNameLst>
                                          <p:attrName>ppt_h</p:attrName>
                                        </p:attrNameLst>
                                      </p:cBhvr>
                                      <p:tavLst>
                                        <p:tav tm="0">
                                          <p:val>
                                            <p:strVal val="#ppt_h"/>
                                          </p:val>
                                        </p:tav>
                                        <p:tav tm="100000">
                                          <p:val>
                                            <p:strVal val="#ppt_h"/>
                                          </p:val>
                                        </p:tav>
                                      </p:tavLst>
                                    </p:anim>
                                  </p:childTnLst>
                                </p:cTn>
                              </p:par>
                            </p:childTnLst>
                          </p:cTn>
                        </p:par>
                        <p:par>
                          <p:cTn id="13" fill="hold">
                            <p:stCondLst>
                              <p:cond delay="1750"/>
                            </p:stCondLst>
                            <p:childTnLst>
                              <p:par>
                                <p:cTn id="14" presetID="10" presetClass="entr" presetSubtype="0"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23" grpId="0"/>
      <p:bldP spid="1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水印的嵌入</a:t>
            </a:r>
          </a:p>
        </p:txBody>
      </p:sp>
      <p:pic>
        <p:nvPicPr>
          <p:cNvPr id="8" name="图片 7">
            <a:extLst>
              <a:ext uri="{FF2B5EF4-FFF2-40B4-BE49-F238E27FC236}">
                <a16:creationId xmlns:a16="http://schemas.microsoft.com/office/drawing/2014/main" id="{83B471A2-75E7-A956-5525-89E6FA53FED1}"/>
              </a:ext>
            </a:extLst>
          </p:cNvPr>
          <p:cNvPicPr>
            <a:picLocks noChangeAspect="1"/>
          </p:cNvPicPr>
          <p:nvPr/>
        </p:nvPicPr>
        <p:blipFill>
          <a:blip r:embed="rId4"/>
          <a:stretch>
            <a:fillRect/>
          </a:stretch>
        </p:blipFill>
        <p:spPr>
          <a:xfrm>
            <a:off x="584182" y="928236"/>
            <a:ext cx="8105861" cy="2899037"/>
          </a:xfrm>
          <a:prstGeom prst="rect">
            <a:avLst/>
          </a:prstGeom>
        </p:spPr>
      </p:pic>
      <p:sp>
        <p:nvSpPr>
          <p:cNvPr id="9" name="文本框 8">
            <a:extLst>
              <a:ext uri="{FF2B5EF4-FFF2-40B4-BE49-F238E27FC236}">
                <a16:creationId xmlns:a16="http://schemas.microsoft.com/office/drawing/2014/main" id="{31DB1507-FEFE-C540-41EE-B47AAE719D3A}"/>
              </a:ext>
            </a:extLst>
          </p:cNvPr>
          <p:cNvSpPr txBox="1"/>
          <p:nvPr/>
        </p:nvSpPr>
        <p:spPr>
          <a:xfrm>
            <a:off x="584182" y="3827273"/>
            <a:ext cx="10136221" cy="2862322"/>
          </a:xfrm>
          <a:prstGeom prst="rect">
            <a:avLst/>
          </a:prstGeom>
          <a:noFill/>
        </p:spPr>
        <p:txBody>
          <a:bodyPr wrap="square" rtlCol="0">
            <a:spAutoFit/>
          </a:bodyPr>
          <a:lstStyle/>
          <a:p>
            <a:r>
              <a:rPr lang="zh-CN" altLang="zh-CN" dirty="0"/>
              <a:t>调用末尾定义的 arnold_transform 函数，对64×64的二值水印做20次Arnold变换。将二维矩阵按列展开为一维向量（MATLAB列优先），方便后续逐个系数嵌入。</a:t>
            </a:r>
            <a:endParaRPr lang="en-US" altLang="zh-CN" dirty="0"/>
          </a:p>
          <a:p>
            <a:endParaRPr lang="en-US" altLang="zh-CN" b="1" dirty="0"/>
          </a:p>
          <a:p>
            <a:r>
              <a:rPr lang="en-US" altLang="zh-CN" dirty="0"/>
              <a:t>dwt2</a:t>
            </a:r>
            <a:r>
              <a:rPr lang="zh-CN" altLang="zh-CN" dirty="0"/>
              <a:t>是MATLAB</a:t>
            </a:r>
            <a:r>
              <a:rPr lang="zh-CN" altLang="en-US" dirty="0"/>
              <a:t>二级</a:t>
            </a:r>
            <a:r>
              <a:rPr lang="zh-CN" altLang="zh-CN" dirty="0"/>
              <a:t>小波</a:t>
            </a:r>
            <a:r>
              <a:rPr lang="zh-CN" altLang="en-US" dirty="0"/>
              <a:t>分解</a:t>
            </a:r>
            <a:r>
              <a:rPr lang="zh-CN" altLang="zh-CN" dirty="0"/>
              <a:t>函数。选择Haar小波因为它是DWT中最简单、最快的——本质就是相邻像素的均值和差值，论文原文也用的Haar</a:t>
            </a:r>
            <a:r>
              <a:rPr lang="zh-CN" altLang="en-US" dirty="0"/>
              <a:t>。</a:t>
            </a:r>
            <a:endParaRPr lang="en-US" altLang="zh-CN" dirty="0"/>
          </a:p>
          <a:p>
            <a:endParaRPr lang="en-US" altLang="zh-CN" b="1" dirty="0"/>
          </a:p>
          <a:p>
            <a:r>
              <a:rPr lang="zh-CN" altLang="zh-CN" dirty="0"/>
              <a:t>numel(ca2) = 128×128 = 16384 个低频系数</a:t>
            </a:r>
            <a:r>
              <a:rPr lang="zh-CN" altLang="en-US" dirty="0"/>
              <a:t>；</a:t>
            </a:r>
            <a:r>
              <a:rPr lang="zh-CN" altLang="zh-CN" dirty="0"/>
              <a:t>randperm(16384, 4096)：从1到16384中无放回地随机选</a:t>
            </a:r>
            <a:r>
              <a:rPr lang="en-US" altLang="zh-CN" dirty="0"/>
              <a:t>64x64=4096</a:t>
            </a:r>
            <a:r>
              <a:rPr lang="zh-CN" altLang="zh-CN" dirty="0"/>
              <a:t>个序号</a:t>
            </a:r>
            <a:r>
              <a:rPr lang="zh-CN" altLang="en-US" dirty="0"/>
              <a:t>；</a:t>
            </a:r>
            <a:r>
              <a:rPr lang="zh-CN" altLang="zh-CN" dirty="0"/>
              <a:t>rng(123) 固定随机种子，保证每次运行选的位置一样——这是盲提取的关键，提取端用同样的种子就能定位到完全相同的系数位置，无需原始载体</a:t>
            </a:r>
          </a:p>
          <a:p>
            <a:endParaRPr lang="zh-CN" altLang="zh-CN" b="1"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B30A-B614-38E9-E533-6641E0286D0A}"/>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7D79FAFE-4924-8396-C942-1630BB3630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6A9C944B-332D-46E0-BD90-B5C09FA1BF46}"/>
              </a:ext>
            </a:extLst>
          </p:cNvPr>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水印的嵌入</a:t>
            </a:r>
          </a:p>
        </p:txBody>
      </p:sp>
      <p:sp>
        <p:nvSpPr>
          <p:cNvPr id="9" name="文本框 8">
            <a:extLst>
              <a:ext uri="{FF2B5EF4-FFF2-40B4-BE49-F238E27FC236}">
                <a16:creationId xmlns:a16="http://schemas.microsoft.com/office/drawing/2014/main" id="{799CEE0B-9EDC-9AA3-C35E-B86238FDE431}"/>
              </a:ext>
            </a:extLst>
          </p:cNvPr>
          <p:cNvSpPr txBox="1"/>
          <p:nvPr/>
        </p:nvSpPr>
        <p:spPr>
          <a:xfrm>
            <a:off x="478129" y="928236"/>
            <a:ext cx="8218091" cy="5632311"/>
          </a:xfrm>
          <a:prstGeom prst="rect">
            <a:avLst/>
          </a:prstGeom>
          <a:noFill/>
        </p:spPr>
        <p:txBody>
          <a:bodyPr wrap="square" rtlCol="0">
            <a:spAutoFit/>
          </a:bodyPr>
          <a:lstStyle/>
          <a:p>
            <a:r>
              <a:rPr lang="zh-CN" altLang="zh-CN" dirty="0"/>
              <a:t>以嵌入比特1为例。目标</a:t>
            </a:r>
            <a:r>
              <a:rPr lang="zh-CN" altLang="en-US" dirty="0"/>
              <a:t>是</a:t>
            </a:r>
            <a:r>
              <a:rPr lang="zh-CN" altLang="zh-CN" dirty="0"/>
              <a:t>让修改后的系数 ca_prime 的模64余数</a:t>
            </a:r>
            <a:r>
              <a:rPr lang="en-US" altLang="zh-CN" dirty="0"/>
              <a:t>z</a:t>
            </a:r>
            <a:r>
              <a:rPr lang="zh-CN" altLang="zh-CN" dirty="0"/>
              <a:t>落在 [0, 16) 或 [48, 64)——即"两极"区域。</a:t>
            </a:r>
          </a:p>
          <a:p>
            <a:endParaRPr lang="en-US" altLang="zh-CN" b="1" dirty="0"/>
          </a:p>
          <a:p>
            <a:r>
              <a:rPr lang="zh-CN" altLang="zh-CN" b="1" dirty="0"/>
              <a:t>情况A — z &lt; 16</a:t>
            </a:r>
            <a:r>
              <a:rPr lang="zh-CN" altLang="zh-CN" dirty="0"/>
              <a:t>：当前余数本身就在 [0,16)，只需微调。ca_prime = ca - 16 - z：</a:t>
            </a:r>
          </a:p>
          <a:p>
            <a:endParaRPr lang="en-US" altLang="zh-CN" dirty="0"/>
          </a:p>
          <a:p>
            <a:r>
              <a:rPr lang="zh-CN" altLang="zh-CN" dirty="0"/>
              <a:t>新余数 = (ca - 16 - z) mod 64 = (z - 16 - z) mod 64 = (-16) mod 64 = 48。余数被调到48（</a:t>
            </a:r>
            <a:r>
              <a:rPr lang="en-US" altLang="zh-CN" dirty="0"/>
              <a:t>ca mod 64 = z</a:t>
            </a:r>
            <a:r>
              <a:rPr lang="zh-CN" altLang="zh-CN" dirty="0"/>
              <a:t>）。</a:t>
            </a:r>
          </a:p>
          <a:p>
            <a:endParaRPr lang="en-US" altLang="zh-CN" b="1" dirty="0"/>
          </a:p>
          <a:p>
            <a:r>
              <a:rPr lang="zh-CN" altLang="zh-CN" b="1" dirty="0"/>
              <a:t>情况B — z ≥ 16</a:t>
            </a:r>
            <a:r>
              <a:rPr lang="zh-CN" altLang="zh-CN" dirty="0"/>
              <a:t>：ca_prime = ca + 48 - z：</a:t>
            </a:r>
          </a:p>
          <a:p>
            <a:endParaRPr lang="en-US" altLang="zh-CN" dirty="0"/>
          </a:p>
          <a:p>
            <a:r>
              <a:rPr lang="zh-CN" altLang="zh-CN" dirty="0"/>
              <a:t>新余数 = (z + 48 - z) mod 64 = 48。余数同样被调到48。</a:t>
            </a:r>
          </a:p>
          <a:p>
            <a:endParaRPr lang="en-US" altLang="zh-CN" dirty="0"/>
          </a:p>
          <a:p>
            <a:r>
              <a:rPr lang="zh-CN" altLang="zh-CN" dirty="0"/>
              <a:t>所以嵌入比特1时，余数始终被拉到</a:t>
            </a:r>
            <a:r>
              <a:rPr lang="zh-CN" altLang="zh-CN" b="1" dirty="0"/>
              <a:t>48</a:t>
            </a:r>
            <a:r>
              <a:rPr lang="zh-CN" altLang="zh-CN" dirty="0"/>
              <a:t>或</a:t>
            </a:r>
            <a:r>
              <a:rPr lang="zh-CN" altLang="zh-CN" b="1" dirty="0"/>
              <a:t>16的对称位置</a:t>
            </a:r>
            <a:r>
              <a:rPr lang="zh-CN" altLang="zh-CN" dirty="0"/>
              <a:t>——最终都落在 [48, 64) 或 [0, 16) 中。</a:t>
            </a:r>
          </a:p>
          <a:p>
            <a:endParaRPr lang="en-US" altLang="zh-CN" dirty="0"/>
          </a:p>
          <a:p>
            <a:r>
              <a:rPr lang="zh-CN" altLang="zh-CN" dirty="0"/>
              <a:t>嵌入比特0时类似分析，ca_prime = ca + 16 - z 或 ca + 80 - z，把余数拉到16，落在中间 [16, 48) 区间。</a:t>
            </a:r>
          </a:p>
          <a:p>
            <a:r>
              <a:rPr lang="zh-CN" altLang="zh-CN" b="1" dirty="0"/>
              <a:t>嵌入1和0的区别</a:t>
            </a:r>
            <a:r>
              <a:rPr lang="zh-CN" altLang="zh-CN" dirty="0"/>
              <a:t>：嵌入1时余数在"两极"（靠近0或63），嵌入0时余数在"中间"（靠近32）。</a:t>
            </a:r>
          </a:p>
          <a:p>
            <a:endParaRPr lang="zh-CN" altLang="zh-CN" b="1" dirty="0"/>
          </a:p>
        </p:txBody>
      </p:sp>
      <p:pic>
        <p:nvPicPr>
          <p:cNvPr id="4" name="图片 3">
            <a:extLst>
              <a:ext uri="{FF2B5EF4-FFF2-40B4-BE49-F238E27FC236}">
                <a16:creationId xmlns:a16="http://schemas.microsoft.com/office/drawing/2014/main" id="{BE7D51E8-5B6F-D80E-4C43-0A328CEA4F54}"/>
              </a:ext>
            </a:extLst>
          </p:cNvPr>
          <p:cNvPicPr>
            <a:picLocks noChangeAspect="1"/>
          </p:cNvPicPr>
          <p:nvPr/>
        </p:nvPicPr>
        <p:blipFill>
          <a:blip r:embed="rId4"/>
          <a:stretch>
            <a:fillRect/>
          </a:stretch>
        </p:blipFill>
        <p:spPr>
          <a:xfrm>
            <a:off x="8696220" y="1472259"/>
            <a:ext cx="2911598" cy="3910379"/>
          </a:xfrm>
          <a:prstGeom prst="rect">
            <a:avLst/>
          </a:prstGeom>
        </p:spPr>
      </p:pic>
    </p:spTree>
    <p:extLst>
      <p:ext uri="{BB962C8B-B14F-4D97-AF65-F5344CB8AC3E}">
        <p14:creationId xmlns:p14="http://schemas.microsoft.com/office/powerpoint/2010/main" val="16489343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9B6E-65C6-3954-DB9F-DFD452209724}"/>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12746135-45E5-95FE-0B66-39478ADC5C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98C03140-0D4F-6A46-B46B-84C6C48A9717}"/>
              </a:ext>
            </a:extLst>
          </p:cNvPr>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水印的提取</a:t>
            </a:r>
          </a:p>
        </p:txBody>
      </p:sp>
      <p:sp>
        <p:nvSpPr>
          <p:cNvPr id="11" name="文本框 10">
            <a:extLst>
              <a:ext uri="{FF2B5EF4-FFF2-40B4-BE49-F238E27FC236}">
                <a16:creationId xmlns:a16="http://schemas.microsoft.com/office/drawing/2014/main" id="{BFFD2F81-6139-93B9-6281-CE3C3398E8BF}"/>
              </a:ext>
            </a:extLst>
          </p:cNvPr>
          <p:cNvSpPr txBox="1"/>
          <p:nvPr/>
        </p:nvSpPr>
        <p:spPr>
          <a:xfrm>
            <a:off x="6096000" y="1540818"/>
            <a:ext cx="5460460" cy="2862322"/>
          </a:xfrm>
          <a:prstGeom prst="rect">
            <a:avLst/>
          </a:prstGeom>
          <a:noFill/>
        </p:spPr>
        <p:txBody>
          <a:bodyPr wrap="square" rtlCol="0">
            <a:spAutoFit/>
          </a:bodyPr>
          <a:lstStyle/>
          <a:p>
            <a:r>
              <a:rPr lang="zh-CN" altLang="zh-CN" dirty="0"/>
              <a:t>提取的判决逻辑极其简单——以32为分界线：</a:t>
            </a:r>
          </a:p>
          <a:p>
            <a:r>
              <a:rPr lang="zh-CN" altLang="en-US" dirty="0"/>
              <a:t>余数</a:t>
            </a:r>
            <a:r>
              <a:rPr lang="en-US" altLang="zh-CN" dirty="0"/>
              <a:t>z</a:t>
            </a:r>
            <a:r>
              <a:rPr lang="zh-CN" altLang="zh-CN" dirty="0"/>
              <a:t>∈ [0, 32) → 嵌入的是0</a:t>
            </a:r>
          </a:p>
          <a:p>
            <a:r>
              <a:rPr lang="zh-CN" altLang="en-US" dirty="0"/>
              <a:t>余数</a:t>
            </a:r>
            <a:r>
              <a:rPr lang="zh-CN" altLang="zh-CN" dirty="0"/>
              <a:t>z ∈ [32, 64) → 嵌入的是1</a:t>
            </a:r>
            <a:endParaRPr lang="en-US" altLang="zh-CN" dirty="0"/>
          </a:p>
          <a:p>
            <a:endParaRPr lang="en-US" altLang="zh-CN" b="1" dirty="0"/>
          </a:p>
          <a:p>
            <a:r>
              <a:rPr lang="zh-CN" altLang="zh-CN" dirty="0"/>
              <a:t>嵌入1后，余数被统一调到48，而48 ≥ 32，提取时正确判为1。原来[0,16)只是嵌入前的判断条件，嵌入后的余数始终是48。嵌入0同理，余数被统一调到16，16 &lt; 32，提取时判为0。</a:t>
            </a:r>
            <a:endParaRPr lang="en-US" altLang="zh-CN" dirty="0"/>
          </a:p>
          <a:p>
            <a:endParaRPr lang="en-US" altLang="zh-CN" b="1" dirty="0"/>
          </a:p>
          <a:p>
            <a:r>
              <a:rPr lang="zh-CN" altLang="zh-CN" dirty="0"/>
              <a:t>利用Arnold周期性——正向再做28次等价于逆变换。</a:t>
            </a:r>
            <a:endParaRPr lang="zh-CN" altLang="zh-CN" b="1" dirty="0"/>
          </a:p>
        </p:txBody>
      </p:sp>
      <p:pic>
        <p:nvPicPr>
          <p:cNvPr id="15" name="图片 14">
            <a:extLst>
              <a:ext uri="{FF2B5EF4-FFF2-40B4-BE49-F238E27FC236}">
                <a16:creationId xmlns:a16="http://schemas.microsoft.com/office/drawing/2014/main" id="{5027BF8A-E363-359D-44B3-77B7F48C97CA}"/>
              </a:ext>
            </a:extLst>
          </p:cNvPr>
          <p:cNvPicPr>
            <a:picLocks noChangeAspect="1"/>
          </p:cNvPicPr>
          <p:nvPr/>
        </p:nvPicPr>
        <p:blipFill>
          <a:blip r:embed="rId4"/>
          <a:stretch>
            <a:fillRect/>
          </a:stretch>
        </p:blipFill>
        <p:spPr>
          <a:xfrm>
            <a:off x="478129" y="928236"/>
            <a:ext cx="5721644" cy="3759393"/>
          </a:xfrm>
          <a:prstGeom prst="rect">
            <a:avLst/>
          </a:prstGeom>
        </p:spPr>
      </p:pic>
    </p:spTree>
    <p:extLst>
      <p:ext uri="{BB962C8B-B14F-4D97-AF65-F5344CB8AC3E}">
        <p14:creationId xmlns:p14="http://schemas.microsoft.com/office/powerpoint/2010/main" val="79191119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26969-A467-F168-1F4C-E934137DDF71}"/>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C028CFF7-7F91-27CB-F7A4-7CC35B1DBC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24C8F334-8C4A-035D-8DB8-3A693EF3CB84}"/>
              </a:ext>
            </a:extLst>
          </p:cNvPr>
          <p:cNvSpPr txBox="1"/>
          <p:nvPr/>
        </p:nvSpPr>
        <p:spPr>
          <a:xfrm>
            <a:off x="478129" y="466571"/>
            <a:ext cx="6094926" cy="461665"/>
          </a:xfrm>
          <a:prstGeom prst="rect">
            <a:avLst/>
          </a:prstGeom>
          <a:noFill/>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Arnold</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置换算法</a:t>
            </a:r>
          </a:p>
        </p:txBody>
      </p:sp>
      <p:pic>
        <p:nvPicPr>
          <p:cNvPr id="3" name="图片 2">
            <a:extLst>
              <a:ext uri="{FF2B5EF4-FFF2-40B4-BE49-F238E27FC236}">
                <a16:creationId xmlns:a16="http://schemas.microsoft.com/office/drawing/2014/main" id="{C725B8BE-DFE7-3B80-34DA-3FDF6A3F7C7C}"/>
              </a:ext>
            </a:extLst>
          </p:cNvPr>
          <p:cNvPicPr>
            <a:picLocks noChangeAspect="1"/>
          </p:cNvPicPr>
          <p:nvPr/>
        </p:nvPicPr>
        <p:blipFill>
          <a:blip r:embed="rId4"/>
          <a:stretch>
            <a:fillRect/>
          </a:stretch>
        </p:blipFill>
        <p:spPr>
          <a:xfrm>
            <a:off x="478129" y="1025401"/>
            <a:ext cx="5315223" cy="4807197"/>
          </a:xfrm>
          <a:prstGeom prst="rect">
            <a:avLst/>
          </a:prstGeom>
        </p:spPr>
      </p:pic>
      <p:sp>
        <p:nvSpPr>
          <p:cNvPr id="6" name="文本框 5">
            <a:extLst>
              <a:ext uri="{FF2B5EF4-FFF2-40B4-BE49-F238E27FC236}">
                <a16:creationId xmlns:a16="http://schemas.microsoft.com/office/drawing/2014/main" id="{4D2E7DFF-D183-9E77-7C49-81CD81E91EA7}"/>
              </a:ext>
            </a:extLst>
          </p:cNvPr>
          <p:cNvSpPr txBox="1"/>
          <p:nvPr/>
        </p:nvSpPr>
        <p:spPr>
          <a:xfrm>
            <a:off x="5793352" y="928236"/>
            <a:ext cx="5211874" cy="5078313"/>
          </a:xfrm>
          <a:prstGeom prst="rect">
            <a:avLst/>
          </a:prstGeom>
          <a:noFill/>
        </p:spPr>
        <p:txBody>
          <a:bodyPr wrap="square" rtlCol="0">
            <a:spAutoFit/>
          </a:bodyPr>
          <a:lstStyle/>
          <a:p>
            <a:r>
              <a:rPr lang="zh-CN" altLang="zh-CN" dirty="0"/>
              <a:t>Arnold公式中的坐标从0开始（0到N-1），MATLAB数组索引从1开始（1到N）。所以变换前：(x, y) → 减1 → (x0, y0)，套公式算出 (nx, ny)，再加1写回矩阵。</a:t>
            </a:r>
          </a:p>
          <a:p>
            <a:endParaRPr lang="en-US" altLang="zh-CN" dirty="0"/>
          </a:p>
          <a:p>
            <a:r>
              <a:rPr lang="zh-CN" altLang="zh-CN" dirty="0"/>
              <a:t>最外层 t = 1:times：控制置乱次数（20次或28次）</a:t>
            </a:r>
          </a:p>
          <a:p>
            <a:endParaRPr lang="en-US" altLang="zh-CN" dirty="0"/>
          </a:p>
          <a:p>
            <a:r>
              <a:rPr lang="zh-CN" altLang="zh-CN" dirty="0"/>
              <a:t>内两层 x, y：遍历图像的每个像素，计算它的新位置并搬运过去</a:t>
            </a:r>
          </a:p>
          <a:p>
            <a:endParaRPr lang="en-US" altLang="zh-CN" b="1" dirty="0"/>
          </a:p>
          <a:p>
            <a:r>
              <a:rPr lang="zh-CN" altLang="zh-CN" b="1" dirty="0"/>
              <a:t>temp 的作用</a:t>
            </a:r>
            <a:r>
              <a:rPr lang="zh-CN" altLang="zh-CN" dirty="0"/>
              <a:t>：作为新图像矩阵接收变换后的像素。必须用一张新图来接——如果直接在原图上改，前面改过的像素会立刻影响后面像素的计算。</a:t>
            </a:r>
          </a:p>
          <a:p>
            <a:endParaRPr lang="en-US" altLang="zh-CN" b="1" dirty="0"/>
          </a:p>
          <a:p>
            <a:r>
              <a:rPr lang="zh-CN" altLang="zh-CN" b="1" dirty="0"/>
              <a:t>logical(scrambled)</a:t>
            </a:r>
            <a:r>
              <a:rPr lang="zh-CN" altLang="zh-CN" dirty="0"/>
              <a:t>：最后转回逻辑型。因为水印是二值图（只有0和1），用logical类型存储更省内存，且在imshow中会自动显示为黑白图。</a:t>
            </a:r>
          </a:p>
          <a:p>
            <a:endParaRPr lang="zh-CN" altLang="en-US" dirty="0"/>
          </a:p>
        </p:txBody>
      </p:sp>
    </p:spTree>
    <p:extLst>
      <p:ext uri="{BB962C8B-B14F-4D97-AF65-F5344CB8AC3E}">
        <p14:creationId xmlns:p14="http://schemas.microsoft.com/office/powerpoint/2010/main" val="40830697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371EE-FCEA-C6EF-2E42-93D0ECF24958}"/>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0CFBD6CF-ED3C-0C25-0D3A-4724C16A14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9D4F5FE4-16CE-5BFD-477B-DDED49DD0113}"/>
              </a:ext>
            </a:extLst>
          </p:cNvPr>
          <p:cNvSpPr txBox="1"/>
          <p:nvPr/>
        </p:nvSpPr>
        <p:spPr>
          <a:xfrm>
            <a:off x="478129" y="466571"/>
            <a:ext cx="6094926" cy="461665"/>
          </a:xfrm>
          <a:prstGeom prst="rect">
            <a:avLst/>
          </a:prstGeom>
          <a:noFill/>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实验结果</a:t>
            </a:r>
          </a:p>
        </p:txBody>
      </p:sp>
      <p:pic>
        <p:nvPicPr>
          <p:cNvPr id="5" name="图片 4">
            <a:extLst>
              <a:ext uri="{FF2B5EF4-FFF2-40B4-BE49-F238E27FC236}">
                <a16:creationId xmlns:a16="http://schemas.microsoft.com/office/drawing/2014/main" id="{527CA3B8-114B-3D43-BEBE-43F43281B5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129" y="1016303"/>
            <a:ext cx="5405568" cy="3259639"/>
          </a:xfrm>
          <a:prstGeom prst="rect">
            <a:avLst/>
          </a:prstGeom>
        </p:spPr>
      </p:pic>
      <p:pic>
        <p:nvPicPr>
          <p:cNvPr id="8" name="图片 7">
            <a:extLst>
              <a:ext uri="{FF2B5EF4-FFF2-40B4-BE49-F238E27FC236}">
                <a16:creationId xmlns:a16="http://schemas.microsoft.com/office/drawing/2014/main" id="{094DAC3C-338D-DEDE-893B-1961EE5A96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128" y="4568307"/>
            <a:ext cx="5405567" cy="1303128"/>
          </a:xfrm>
          <a:prstGeom prst="rect">
            <a:avLst/>
          </a:prstGeom>
        </p:spPr>
      </p:pic>
      <p:pic>
        <p:nvPicPr>
          <p:cNvPr id="10" name="图片 9">
            <a:extLst>
              <a:ext uri="{FF2B5EF4-FFF2-40B4-BE49-F238E27FC236}">
                <a16:creationId xmlns:a16="http://schemas.microsoft.com/office/drawing/2014/main" id="{6070FF35-338B-FF8E-562C-1C741541EA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8701" y="1016303"/>
            <a:ext cx="5405568" cy="3259639"/>
          </a:xfrm>
          <a:prstGeom prst="rect">
            <a:avLst/>
          </a:prstGeom>
        </p:spPr>
      </p:pic>
      <p:pic>
        <p:nvPicPr>
          <p:cNvPr id="12" name="图片 11">
            <a:extLst>
              <a:ext uri="{FF2B5EF4-FFF2-40B4-BE49-F238E27FC236}">
                <a16:creationId xmlns:a16="http://schemas.microsoft.com/office/drawing/2014/main" id="{672C77DC-52FC-7068-F994-0C2442849B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18701" y="4568307"/>
            <a:ext cx="5005980" cy="1305908"/>
          </a:xfrm>
          <a:prstGeom prst="rect">
            <a:avLst/>
          </a:prstGeom>
        </p:spPr>
      </p:pic>
    </p:spTree>
    <p:extLst>
      <p:ext uri="{BB962C8B-B14F-4D97-AF65-F5344CB8AC3E}">
        <p14:creationId xmlns:p14="http://schemas.microsoft.com/office/powerpoint/2010/main" val="9033613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552761" y="3228747"/>
            <a:ext cx="1672254" cy="1862048"/>
          </a:xfrm>
          <a:prstGeom prst="rect">
            <a:avLst/>
          </a:prstGeom>
          <a:noFill/>
        </p:spPr>
        <p:txBody>
          <a:bodyPr wrap="none" rtlCol="0">
            <a:spAutoFit/>
          </a:bodyPr>
          <a:lstStyle/>
          <a:p>
            <a:pPr algn="ctr"/>
            <a:r>
              <a:rPr kumimoji="1" lang="en-US" altLang="zh-CN" sz="11500" b="1" dirty="0">
                <a:latin typeface="方正小标宋简体" panose="02000000000000000000" pitchFamily="2" charset="-122"/>
                <a:ea typeface="方正小标宋简体" panose="02000000000000000000" pitchFamily="2" charset="-122"/>
                <a:cs typeface="Arial" panose="020B0604020202020204" pitchFamily="34" charset="0"/>
              </a:rPr>
              <a:t>03</a:t>
            </a:r>
            <a:endParaRPr kumimoji="1" lang="zh-CN" altLang="en-US" sz="96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116" name="文本框 115"/>
          <p:cNvSpPr txBox="1"/>
          <p:nvPr/>
        </p:nvSpPr>
        <p:spPr>
          <a:xfrm>
            <a:off x="571998" y="2977218"/>
            <a:ext cx="1633781" cy="523220"/>
          </a:xfrm>
          <a:prstGeom prst="rect">
            <a:avLst/>
          </a:prstGeom>
          <a:noFill/>
        </p:spPr>
        <p:txBody>
          <a:bodyPr wrap="square" rtlCol="0">
            <a:spAutoFit/>
          </a:bodyPr>
          <a:lstStyle/>
          <a:p>
            <a:pPr algn="dist"/>
            <a:r>
              <a:rPr kumimoji="1" lang="en-US" altLang="zh-CN" sz="2800" b="1" dirty="0">
                <a:latin typeface="方正小标宋简体" panose="02000000000000000000" pitchFamily="2" charset="-122"/>
                <a:ea typeface="方正小标宋简体" panose="02000000000000000000" pitchFamily="2" charset="-122"/>
                <a:cs typeface="Arial" panose="020B0604020202020204" pitchFamily="34" charset="0"/>
              </a:rPr>
              <a:t>PART</a:t>
            </a:r>
            <a:endParaRPr kumimoji="1" lang="zh-CN" altLang="en-US" sz="28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9" name="矩形 8"/>
          <p:cNvSpPr/>
          <p:nvPr/>
        </p:nvSpPr>
        <p:spPr>
          <a:xfrm>
            <a:off x="0" y="5144012"/>
            <a:ext cx="3304674"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小标宋简体" panose="02000000000000000000" pitchFamily="2" charset="-122"/>
              <a:ea typeface="方正小标宋简体" panose="02000000000000000000" pitchFamily="2" charset="-122"/>
            </a:endParaRPr>
          </a:p>
        </p:txBody>
      </p:sp>
      <p:cxnSp>
        <p:nvCxnSpPr>
          <p:cNvPr id="11" name="直接连接符 10"/>
          <p:cNvCxnSpPr/>
          <p:nvPr/>
        </p:nvCxnSpPr>
        <p:spPr>
          <a:xfrm rot="5400000">
            <a:off x="9368589" y="3690412"/>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8866" y="615471"/>
            <a:ext cx="1633034" cy="1622814"/>
          </a:xfrm>
          <a:prstGeom prst="rect">
            <a:avLst/>
          </a:prstGeom>
        </p:spPr>
      </p:pic>
      <p:sp>
        <p:nvSpPr>
          <p:cNvPr id="2" name="矩形: 圆角 20"/>
          <p:cNvSpPr/>
          <p:nvPr/>
        </p:nvSpPr>
        <p:spPr>
          <a:xfrm>
            <a:off x="10181617" y="2291502"/>
            <a:ext cx="390485" cy="995537"/>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5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p:txBody>
      </p:sp>
      <p:sp>
        <p:nvSpPr>
          <p:cNvPr id="3" name="文本框 2">
            <a:extLst>
              <a:ext uri="{FF2B5EF4-FFF2-40B4-BE49-F238E27FC236}">
                <a16:creationId xmlns:a16="http://schemas.microsoft.com/office/drawing/2014/main" id="{8EEC7384-2F32-66BB-36BA-4B5FC54260DC}"/>
              </a:ext>
            </a:extLst>
          </p:cNvPr>
          <p:cNvSpPr txBox="1"/>
          <p:nvPr/>
        </p:nvSpPr>
        <p:spPr>
          <a:xfrm>
            <a:off x="4916399" y="2502127"/>
            <a:ext cx="5460460" cy="2554545"/>
          </a:xfrm>
          <a:prstGeom prst="rect">
            <a:avLst/>
          </a:prstGeom>
          <a:noFill/>
        </p:spPr>
        <p:txBody>
          <a:bodyPr wrap="square" rtlCol="0">
            <a:spAutoFit/>
          </a:bodyPr>
          <a:lstStyle/>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复现攻击测试</a:t>
            </a: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汇报人：蒋佳杰</a:t>
            </a:r>
            <a:endParaRPr kumimoji="1" lang="en-US" altLang="zh-CN" sz="5400" b="1" dirty="0">
              <a:solidFill>
                <a:schemeClr val="tx1">
                  <a:lumMod val="95000"/>
                  <a:lumOff val="5000"/>
                </a:schemeClr>
              </a:solidFill>
              <a:latin typeface="Times New Roman" panose="02020603050405020304" pitchFamily="18" charset="0"/>
              <a:ea typeface="方正小标宋简体" panose="02000000000000000000" pitchFamily="2" charset="-122"/>
              <a:cs typeface="Times New Roman" panose="02020603050405020304" pitchFamily="18" charset="0"/>
              <a:sym typeface="思源黑体 CN Normal" panose="020B04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100" advClick="0" advTm="3000">
        <p:cut/>
      </p:transition>
    </mc:Choice>
    <mc:Fallback xmlns="">
      <p:transition advClick="0" advTm="3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攻击方式</a:t>
            </a:r>
          </a:p>
        </p:txBody>
      </p:sp>
      <p:sp>
        <p:nvSpPr>
          <p:cNvPr id="4" name="文本框 3"/>
          <p:cNvSpPr txBox="1"/>
          <p:nvPr/>
        </p:nvSpPr>
        <p:spPr>
          <a:xfrm>
            <a:off x="645795" y="1073784"/>
            <a:ext cx="10142845" cy="5145433"/>
          </a:xfrm>
          <a:prstGeom prst="rect">
            <a:avLst/>
          </a:prstGeom>
          <a:noFill/>
        </p:spPr>
        <p:txBody>
          <a:bodyPr wrap="square">
            <a:noAutofit/>
          </a:bodyPr>
          <a:lstStyle/>
          <a:p>
            <a:pPr marL="342900" indent="-342900">
              <a:buAutoNum type="arabicPeriod"/>
            </a:pPr>
            <a:r>
              <a:rPr lang="zh-CN" altLang="zh-CN" b="1" dirty="0"/>
              <a:t>高斯滤波</a:t>
            </a:r>
            <a:r>
              <a:rPr lang="zh-CN" altLang="en-US" b="1" dirty="0"/>
              <a:t>：</a:t>
            </a:r>
            <a:r>
              <a:rPr lang="zh-CN" altLang="zh-CN" dirty="0"/>
              <a:t>图像经过低通滤波平滑处理</a:t>
            </a:r>
            <a:r>
              <a:rPr lang="zh-CN" altLang="en-US" dirty="0"/>
              <a:t>。</a:t>
            </a:r>
            <a:r>
              <a:rPr lang="zh-CN" altLang="zh-CN" dirty="0"/>
              <a:t>用一个高斯核对图像做卷积，核的权重按二维高斯分布衰减。σ=1.0 意味着距离中心越远的邻域像素权重越小。效果是模糊掉图像的高频细节（边缘、纹理变柔和）。</a:t>
            </a:r>
            <a:endParaRPr lang="en-US" altLang="zh-CN" dirty="0"/>
          </a:p>
          <a:p>
            <a:pPr marL="342900" indent="-342900">
              <a:buFontTx/>
              <a:buAutoNum type="arabicPeriod"/>
            </a:pPr>
            <a:r>
              <a:rPr lang="zh-CN" altLang="zh-CN" b="1" dirty="0"/>
              <a:t>中值滤波</a:t>
            </a:r>
            <a:r>
              <a:rPr lang="zh-CN" altLang="en-US" b="1" dirty="0"/>
              <a:t>：</a:t>
            </a:r>
            <a:r>
              <a:rPr lang="zh-CN" altLang="zh-CN" dirty="0"/>
              <a:t>图像去噪处理</a:t>
            </a:r>
            <a:r>
              <a:rPr lang="zh-CN" altLang="en-US" dirty="0"/>
              <a:t>。</a:t>
            </a:r>
            <a:r>
              <a:rPr lang="zh-CN" altLang="zh-CN" dirty="0"/>
              <a:t>对每个像素，取它3×3邻域内9个像素的中值替换原值。与高斯滤波不同，中值滤波是非线性的——它不是加权平均，而是排序取中间值，对孤立噪声点（</a:t>
            </a:r>
            <a:r>
              <a:rPr lang="zh-CN" altLang="en-US" dirty="0"/>
              <a:t>如</a:t>
            </a:r>
            <a:r>
              <a:rPr lang="zh-CN" altLang="zh-CN" dirty="0"/>
              <a:t>椒盐噪声）的去除效果极好，同时能较好地保留边缘。</a:t>
            </a:r>
            <a:endParaRPr lang="zh-CN" altLang="zh-CN" b="1" dirty="0"/>
          </a:p>
          <a:p>
            <a:pPr marL="342900" indent="-342900">
              <a:buFontTx/>
              <a:buAutoNum type="arabicPeriod"/>
            </a:pPr>
            <a:r>
              <a:rPr lang="zh-CN" altLang="zh-CN" b="1" dirty="0"/>
              <a:t> JPEG压缩</a:t>
            </a:r>
            <a:r>
              <a:rPr lang="zh-CN" altLang="en-US" b="1" dirty="0"/>
              <a:t>：</a:t>
            </a:r>
            <a:r>
              <a:rPr lang="zh-CN" altLang="zh-CN" dirty="0"/>
              <a:t>图像经过有损压缩</a:t>
            </a:r>
            <a:r>
              <a:rPr lang="zh-CN" altLang="en-US" dirty="0"/>
              <a:t>。</a:t>
            </a:r>
            <a:r>
              <a:rPr lang="zh-CN" altLang="zh-CN" dirty="0"/>
              <a:t>JPEG压缩的核心步骤是：图像分块（8×8）→ DCT变换 → 对DCT系数量化（有损）→ 熵编码。质量因子Q控制量化步长——Q越小，量化越粗糙，丢弃的高频信息越多。</a:t>
            </a:r>
            <a:endParaRPr lang="zh-CN" altLang="zh-CN" b="1" dirty="0"/>
          </a:p>
          <a:p>
            <a:pPr marL="342900" indent="-342900">
              <a:buFontTx/>
              <a:buAutoNum type="arabicPeriod"/>
            </a:pPr>
            <a:r>
              <a:rPr lang="zh-CN" altLang="zh-CN" b="1" dirty="0"/>
              <a:t>椒盐噪声</a:t>
            </a:r>
            <a:r>
              <a:rPr lang="zh-CN" altLang="en-US" b="1" dirty="0"/>
              <a:t>：</a:t>
            </a:r>
            <a:r>
              <a:rPr lang="zh-CN" altLang="zh-CN" dirty="0"/>
              <a:t>图像引入随机脉冲噪声</a:t>
            </a:r>
            <a:r>
              <a:rPr lang="zh-CN" altLang="en-US" dirty="0"/>
              <a:t>。</a:t>
            </a:r>
            <a:r>
              <a:rPr lang="zh-CN" altLang="zh-CN" dirty="0"/>
              <a:t>以2%的概率随机将像素置为纯白或纯黑。</a:t>
            </a:r>
            <a:endParaRPr lang="zh-CN" altLang="zh-CN" b="1" dirty="0"/>
          </a:p>
          <a:p>
            <a:pPr marL="342900" indent="-342900">
              <a:buFontTx/>
              <a:buAutoNum type="arabicPeriod"/>
            </a:pPr>
            <a:r>
              <a:rPr lang="zh-CN" altLang="zh-CN" b="1" dirty="0"/>
              <a:t>旋转攻击</a:t>
            </a:r>
            <a:r>
              <a:rPr lang="zh-CN" altLang="en-US" b="1" dirty="0"/>
              <a:t>：</a:t>
            </a:r>
            <a:r>
              <a:rPr lang="zh-CN" altLang="zh-CN" dirty="0"/>
              <a:t>图像在显示或扫描过程中发生微小旋转。</a:t>
            </a:r>
            <a:endParaRPr lang="zh-CN" altLang="zh-CN" b="1" dirty="0"/>
          </a:p>
          <a:p>
            <a:pPr marL="342900" indent="-342900">
              <a:buFontTx/>
              <a:buAutoNum type="arabicPeriod"/>
            </a:pPr>
            <a:r>
              <a:rPr lang="zh-CN" altLang="zh-CN" b="1" dirty="0"/>
              <a:t>缩放攻击</a:t>
            </a:r>
            <a:r>
              <a:rPr lang="zh-CN" altLang="en-US" b="1" dirty="0"/>
              <a:t>：</a:t>
            </a:r>
            <a:r>
              <a:rPr lang="zh-CN" altLang="zh-CN" dirty="0"/>
              <a:t>图像尺寸调整（如适应不同显示分辨率）。</a:t>
            </a:r>
            <a:endParaRPr lang="zh-CN" altLang="zh-CN" b="1" dirty="0"/>
          </a:p>
          <a:p>
            <a:pPr marL="342900" indent="-342900">
              <a:buFontTx/>
              <a:buAutoNum type="arabicPeriod"/>
            </a:pPr>
            <a:r>
              <a:rPr lang="zh-CN" altLang="zh-CN" b="1" dirty="0"/>
              <a:t> 裁剪攻击</a:t>
            </a:r>
            <a:r>
              <a:rPr lang="zh-CN" altLang="en-US" b="1" dirty="0"/>
              <a:t>：</a:t>
            </a:r>
            <a:r>
              <a:rPr lang="zh-CN" altLang="zh-CN" dirty="0"/>
              <a:t>图像部分区域丢失或被遮挡。</a:t>
            </a:r>
            <a:endParaRPr lang="en-US" altLang="zh-CN" dirty="0"/>
          </a:p>
          <a:p>
            <a:pPr marL="342900" indent="-342900">
              <a:buFontTx/>
              <a:buAutoNum type="arabicPeriod"/>
            </a:pPr>
            <a:endParaRPr lang="en-US" altLang="zh-CN" b="1" dirty="0"/>
          </a:p>
          <a:p>
            <a:r>
              <a:rPr lang="zh-CN" altLang="en-US" dirty="0"/>
              <a:t>实验会对含水印图像依次进行以上七种常见的处理，在处理后尝试提取水印，将提取出的水印与原始水印计算</a:t>
            </a:r>
            <a:r>
              <a:rPr lang="en-US" altLang="zh-CN" dirty="0"/>
              <a:t>NC</a:t>
            </a:r>
            <a:r>
              <a:rPr lang="zh-CN" altLang="en-US" dirty="0"/>
              <a:t>相关系数，计算水印损坏程度。</a:t>
            </a:r>
            <a:endParaRPr lang="zh-CN" altLang="zh-CN"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实验结果</a:t>
            </a:r>
          </a:p>
        </p:txBody>
      </p:sp>
      <p:pic>
        <p:nvPicPr>
          <p:cNvPr id="5" name="图片 4">
            <a:extLst>
              <a:ext uri="{FF2B5EF4-FFF2-40B4-BE49-F238E27FC236}">
                <a16:creationId xmlns:a16="http://schemas.microsoft.com/office/drawing/2014/main" id="{8B52BD05-AAB1-C0F5-DA4C-5E407434EDC7}"/>
              </a:ext>
            </a:extLst>
          </p:cNvPr>
          <p:cNvPicPr>
            <a:picLocks noChangeAspect="1"/>
          </p:cNvPicPr>
          <p:nvPr/>
        </p:nvPicPr>
        <p:blipFill>
          <a:blip r:embed="rId4"/>
          <a:stretch>
            <a:fillRect/>
          </a:stretch>
        </p:blipFill>
        <p:spPr>
          <a:xfrm>
            <a:off x="3021706" y="413466"/>
            <a:ext cx="6148585" cy="2985722"/>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ED865E7-5451-89F0-DD8E-28DC0778F92E}"/>
                  </a:ext>
                </a:extLst>
              </p:cNvPr>
              <p:cNvSpPr txBox="1"/>
              <p:nvPr/>
            </p:nvSpPr>
            <p:spPr>
              <a:xfrm>
                <a:off x="1024575" y="3452293"/>
                <a:ext cx="10142845" cy="2572717"/>
              </a:xfrm>
              <a:prstGeom prst="rect">
                <a:avLst/>
              </a:prstGeom>
              <a:noFill/>
            </p:spPr>
            <p:txBody>
              <a:bodyPr wrap="square">
                <a:noAutofit/>
              </a:bodyPr>
              <a:lstStyle/>
              <a:p>
                <a:r>
                  <a:rPr lang="zh-CN" altLang="zh-CN" b="1" dirty="0"/>
                  <a:t>JPEG压缩（NC &gt; 0.97）</a:t>
                </a:r>
                <a:r>
                  <a:rPr lang="zh-CN" altLang="zh-CN" dirty="0"/>
                  <a:t>：算法对JPEG压缩表现出极强的鲁棒性。这是因为JPEG压缩的DCT量化主要影响高频分量，而水印嵌入在二级低频子带 </a:t>
                </a:r>
                <a14:m>
                  <m:oMath xmlns:m="http://schemas.openxmlformats.org/officeDocument/2006/math">
                    <m:r>
                      <a:rPr lang="zh-CN" altLang="en-US" i="1">
                        <a:latin typeface="Cambria Math" panose="02040503050406030204" pitchFamily="18" charset="0"/>
                      </a:rPr>
                      <m:t>𝐿</m:t>
                    </m:r>
                    <m:sSub>
                      <m:sSubPr>
                        <m:ctrlPr>
                          <a:rPr lang="zh-CN" altLang="en-US" i="1">
                            <a:latin typeface="Cambria Math" panose="02040503050406030204" pitchFamily="18" charset="0"/>
                          </a:rPr>
                        </m:ctrlPr>
                      </m:sSubPr>
                      <m:e>
                        <m:r>
                          <a:rPr lang="zh-CN" altLang="en-US" i="1">
                            <a:latin typeface="Cambria Math" panose="02040503050406030204" pitchFamily="18" charset="0"/>
                          </a:rPr>
                          <m:t>𝐿</m:t>
                        </m:r>
                      </m:e>
                      <m:sub>
                        <m:r>
                          <a:rPr lang="en-US" altLang="zh-CN">
                            <a:latin typeface="Cambria Math" panose="02040503050406030204" pitchFamily="18" charset="0"/>
                          </a:rPr>
                          <m:t>2</m:t>
                        </m:r>
                      </m:sub>
                    </m:sSub>
                  </m:oMath>
                </a14:m>
                <a:r>
                  <a:rPr lang="zh-CN" altLang="zh-CN" dirty="0"/>
                  <a:t> 中，能量集中、受压缩影响小。</a:t>
                </a:r>
                <a:endParaRPr lang="en-US" altLang="zh-CN" dirty="0"/>
              </a:p>
              <a:p>
                <a:r>
                  <a:rPr lang="zh-CN" altLang="zh-CN" b="1" dirty="0"/>
                  <a:t>中值滤波（NC &gt; 0.94）与高斯滤波（NC &gt; 0.87）</a:t>
                </a:r>
                <a:r>
                  <a:rPr lang="zh-CN" altLang="zh-CN" dirty="0"/>
                  <a:t>：算法对滤波攻击有较好的鲁棒性。中值滤波主要去除孤立噪声点，对低频系数扰动有限。</a:t>
                </a:r>
                <a:endParaRPr lang="en-US" altLang="zh-CN" dirty="0"/>
              </a:p>
              <a:p>
                <a:r>
                  <a:rPr lang="zh-CN" altLang="zh-CN" b="1" dirty="0"/>
                  <a:t>椒盐噪声（NC ≈ 0.89）</a:t>
                </a:r>
                <a:r>
                  <a:rPr lang="zh-CN" altLang="zh-CN" dirty="0"/>
                  <a:t>：算法对</a:t>
                </a:r>
                <a:r>
                  <a:rPr lang="zh-CN" altLang="en-US" dirty="0"/>
                  <a:t>椒盐噪声</a:t>
                </a:r>
                <a:r>
                  <a:rPr lang="zh-CN" altLang="zh-CN" dirty="0"/>
                  <a:t>攻击有较好的鲁棒性。</a:t>
                </a:r>
                <a:endParaRPr lang="en-US" altLang="zh-CN" dirty="0"/>
              </a:p>
              <a:p>
                <a:r>
                  <a:rPr lang="zh-CN" altLang="zh-CN" b="1" dirty="0"/>
                  <a:t>缩放攻击（NC &gt; 0.91）</a:t>
                </a:r>
                <a:r>
                  <a:rPr lang="zh-CN" altLang="zh-CN" dirty="0"/>
                  <a:t>：1.2倍缩放后NC值在0.91~0.94之间，说明算法对适度缩放有一定鲁棒性，但两次插值操作对系数精度的平滑效应仍然造成了部分水印比特的误判。</a:t>
                </a:r>
              </a:p>
              <a:p>
                <a:r>
                  <a:rPr lang="zh-CN" altLang="zh-CN" b="1" dirty="0"/>
                  <a:t>旋转攻击（NC ≈ 0.64~0.66）与裁剪攻击（NC ≈ 0.66~0.68）</a:t>
                </a:r>
                <a:r>
                  <a:rPr lang="zh-CN" altLang="zh-CN" dirty="0"/>
                  <a:t>：这是两种最严重的攻击。旋转改变了像素的几何位置，破坏了DWT系数与水印比特之间的空间对应关系；裁剪直接丢失了20%区域的水印信息，即使放大填充也无法恢复。</a:t>
                </a:r>
              </a:p>
            </p:txBody>
          </p:sp>
        </mc:Choice>
        <mc:Fallback xmlns="">
          <p:sp>
            <p:nvSpPr>
              <p:cNvPr id="7" name="文本框 6">
                <a:extLst>
                  <a:ext uri="{FF2B5EF4-FFF2-40B4-BE49-F238E27FC236}">
                    <a16:creationId xmlns:a16="http://schemas.microsoft.com/office/drawing/2014/main" id="{1ED865E7-5451-89F0-DD8E-28DC0778F92E}"/>
                  </a:ext>
                </a:extLst>
              </p:cNvPr>
              <p:cNvSpPr txBox="1">
                <a:spLocks noRot="1" noChangeAspect="1" noMove="1" noResize="1" noEditPoints="1" noAdjustHandles="1" noChangeArrowheads="1" noChangeShapeType="1" noTextEdit="1"/>
              </p:cNvSpPr>
              <p:nvPr/>
            </p:nvSpPr>
            <p:spPr>
              <a:xfrm>
                <a:off x="1024575" y="3452293"/>
                <a:ext cx="10142845" cy="2572717"/>
              </a:xfrm>
              <a:prstGeom prst="rect">
                <a:avLst/>
              </a:prstGeom>
              <a:blipFill>
                <a:blip r:embed="rId5"/>
                <a:stretch>
                  <a:fillRect l="-481" t="-1896" r="-541" b="-1327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文本框 114"/>
          <p:cNvSpPr txBox="1"/>
          <p:nvPr/>
        </p:nvSpPr>
        <p:spPr>
          <a:xfrm>
            <a:off x="7231709" y="2315498"/>
            <a:ext cx="3068532" cy="2554545"/>
          </a:xfrm>
          <a:prstGeom prst="rect">
            <a:avLst/>
          </a:prstGeom>
          <a:noFill/>
        </p:spPr>
        <p:txBody>
          <a:bodyPr wrap="none" rtlCol="0">
            <a:spAutoFit/>
          </a:bodyPr>
          <a:lstStyle/>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提出改进方案</a:t>
            </a: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endParaRPr lang="en-US" altLang="zh-CN"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endParaRPr>
          </a:p>
          <a:p>
            <a:pPr algn="r"/>
            <a:r>
              <a:rPr lang="zh-CN" altLang="en-US" sz="32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汇报人：蒋佳杰</a:t>
            </a:r>
          </a:p>
        </p:txBody>
      </p:sp>
      <p:sp>
        <p:nvSpPr>
          <p:cNvPr id="23" name="文本框 22"/>
          <p:cNvSpPr txBox="1"/>
          <p:nvPr/>
        </p:nvSpPr>
        <p:spPr>
          <a:xfrm>
            <a:off x="552761" y="3228747"/>
            <a:ext cx="1672254" cy="1862048"/>
          </a:xfrm>
          <a:prstGeom prst="rect">
            <a:avLst/>
          </a:prstGeom>
          <a:noFill/>
        </p:spPr>
        <p:txBody>
          <a:bodyPr wrap="none" rtlCol="0">
            <a:spAutoFit/>
          </a:bodyPr>
          <a:lstStyle/>
          <a:p>
            <a:pPr algn="ctr"/>
            <a:r>
              <a:rPr kumimoji="1" lang="en-US" altLang="zh-CN" sz="11500" b="1" dirty="0">
                <a:latin typeface="方正小标宋简体" panose="02000000000000000000" pitchFamily="2" charset="-122"/>
                <a:ea typeface="方正小标宋简体" panose="02000000000000000000" pitchFamily="2" charset="-122"/>
                <a:cs typeface="Arial" panose="020B0604020202020204" pitchFamily="34" charset="0"/>
              </a:rPr>
              <a:t>04</a:t>
            </a:r>
            <a:endParaRPr kumimoji="1" lang="zh-CN" altLang="en-US" sz="96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116" name="文本框 115"/>
          <p:cNvSpPr txBox="1"/>
          <p:nvPr/>
        </p:nvSpPr>
        <p:spPr>
          <a:xfrm>
            <a:off x="571998" y="2977218"/>
            <a:ext cx="1633781" cy="523220"/>
          </a:xfrm>
          <a:prstGeom prst="rect">
            <a:avLst/>
          </a:prstGeom>
          <a:noFill/>
        </p:spPr>
        <p:txBody>
          <a:bodyPr wrap="square" rtlCol="0">
            <a:spAutoFit/>
          </a:bodyPr>
          <a:lstStyle/>
          <a:p>
            <a:pPr algn="dist"/>
            <a:r>
              <a:rPr kumimoji="1" lang="en-US" altLang="zh-CN" sz="2800" b="1" dirty="0">
                <a:latin typeface="方正小标宋简体" panose="02000000000000000000" pitchFamily="2" charset="-122"/>
                <a:ea typeface="方正小标宋简体" panose="02000000000000000000" pitchFamily="2" charset="-122"/>
                <a:cs typeface="Arial" panose="020B0604020202020204" pitchFamily="34" charset="0"/>
              </a:rPr>
              <a:t>PART</a:t>
            </a:r>
            <a:endParaRPr kumimoji="1" lang="zh-CN" altLang="en-US" sz="2800" b="1" dirty="0">
              <a:latin typeface="方正小标宋简体" panose="02000000000000000000" pitchFamily="2" charset="-122"/>
              <a:ea typeface="方正小标宋简体" panose="02000000000000000000" pitchFamily="2" charset="-122"/>
              <a:cs typeface="Arial" panose="020B0604020202020204" pitchFamily="34" charset="0"/>
            </a:endParaRPr>
          </a:p>
        </p:txBody>
      </p:sp>
      <p:sp>
        <p:nvSpPr>
          <p:cNvPr id="9" name="矩形 8"/>
          <p:cNvSpPr/>
          <p:nvPr/>
        </p:nvSpPr>
        <p:spPr>
          <a:xfrm>
            <a:off x="0" y="5144012"/>
            <a:ext cx="3304674"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方正小标宋简体" panose="02000000000000000000" pitchFamily="2" charset="-122"/>
              <a:ea typeface="方正小标宋简体" panose="02000000000000000000" pitchFamily="2" charset="-122"/>
            </a:endParaRPr>
          </a:p>
        </p:txBody>
      </p:sp>
      <p:cxnSp>
        <p:nvCxnSpPr>
          <p:cNvPr id="11" name="直接连接符 10"/>
          <p:cNvCxnSpPr/>
          <p:nvPr/>
        </p:nvCxnSpPr>
        <p:spPr>
          <a:xfrm rot="5400000">
            <a:off x="9368589" y="3690412"/>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8866" y="615471"/>
            <a:ext cx="1633034" cy="162281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advClick="0" advTm="3000">
        <p:cut/>
      </p:transition>
    </mc:Choice>
    <mc:Fallback xmlns="">
      <p:transition advClick="0" advTm="3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par>
                          <p:cTn id="8" fill="hold">
                            <p:stCondLst>
                              <p:cond delay="500"/>
                            </p:stCondLst>
                            <p:childTnLst>
                              <p:par>
                                <p:cTn id="9" presetID="17" presetClass="entr" presetSubtype="10" fill="hold" grpId="0" nodeType="afterEffect">
                                  <p:stCondLst>
                                    <p:cond delay="0"/>
                                  </p:stCondLst>
                                  <p:iterate type="lt">
                                    <p:tmPct val="10000"/>
                                  </p:iterate>
                                  <p:childTnLst>
                                    <p:set>
                                      <p:cBhvr>
                                        <p:cTn id="10" dur="1" fill="hold">
                                          <p:stCondLst>
                                            <p:cond delay="0"/>
                                          </p:stCondLst>
                                        </p:cTn>
                                        <p:tgtEl>
                                          <p:spTgt spid="115"/>
                                        </p:tgtEl>
                                        <p:attrNameLst>
                                          <p:attrName>style.visibility</p:attrName>
                                        </p:attrNameLst>
                                      </p:cBhvr>
                                      <p:to>
                                        <p:strVal val="visible"/>
                                      </p:to>
                                    </p:set>
                                    <p:anim calcmode="lin" valueType="num">
                                      <p:cBhvr>
                                        <p:cTn id="11" dur="500" fill="hold"/>
                                        <p:tgtEl>
                                          <p:spTgt spid="115"/>
                                        </p:tgtEl>
                                        <p:attrNameLst>
                                          <p:attrName>ppt_w</p:attrName>
                                        </p:attrNameLst>
                                      </p:cBhvr>
                                      <p:tavLst>
                                        <p:tav tm="0">
                                          <p:val>
                                            <p:fltVal val="0"/>
                                          </p:val>
                                        </p:tav>
                                        <p:tav tm="100000">
                                          <p:val>
                                            <p:strVal val="#ppt_w"/>
                                          </p:val>
                                        </p:tav>
                                      </p:tavLst>
                                    </p:anim>
                                    <p:anim calcmode="lin" valueType="num">
                                      <p:cBhvr>
                                        <p:cTn id="12" dur="500" fill="hold"/>
                                        <p:tgtEl>
                                          <p:spTgt spid="115"/>
                                        </p:tgtEl>
                                        <p:attrNameLst>
                                          <p:attrName>ppt_h</p:attrName>
                                        </p:attrNameLst>
                                      </p:cBhvr>
                                      <p:tavLst>
                                        <p:tav tm="0">
                                          <p:val>
                                            <p:strVal val="#ppt_h"/>
                                          </p:val>
                                        </p:tav>
                                        <p:tav tm="100000">
                                          <p:val>
                                            <p:strVal val="#ppt_h"/>
                                          </p:val>
                                        </p:tav>
                                      </p:tavLst>
                                    </p:anim>
                                  </p:childTnLst>
                                </p:cTn>
                              </p:par>
                            </p:childTnLst>
                          </p:cTn>
                        </p:par>
                        <p:par>
                          <p:cTn id="13" fill="hold">
                            <p:stCondLst>
                              <p:cond delay="1600"/>
                            </p:stCondLst>
                            <p:childTnLst>
                              <p:par>
                                <p:cTn id="14" presetID="10" presetClass="entr" presetSubtype="0"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23" grpId="0"/>
      <p:bldP spid="1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5447E-B04B-352D-69F7-1F92511D1D34}"/>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5FA4451B-BB17-311D-3C67-B0A0FC71DC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EDAB0578-45E8-B6AC-A213-CBBF265F8A7C}"/>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修正公式</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48F3F98-192D-F9C8-56D1-51AA9534AC8C}"/>
                  </a:ext>
                </a:extLst>
              </p:cNvPr>
              <p:cNvSpPr txBox="1"/>
              <p:nvPr/>
            </p:nvSpPr>
            <p:spPr>
              <a:xfrm>
                <a:off x="645795" y="2853812"/>
                <a:ext cx="10142845" cy="2572717"/>
              </a:xfrm>
              <a:prstGeom prst="rect">
                <a:avLst/>
              </a:prstGeom>
              <a:noFill/>
            </p:spPr>
            <p:txBody>
              <a:bodyPr wrap="square">
                <a:noAutofit/>
              </a:bodyPr>
              <a:lstStyle/>
              <a:p>
                <a:r>
                  <a:rPr lang="zh-CN" altLang="zh-CN" dirty="0"/>
                  <a:t>回顾原论文的嵌入公式(3)，当嵌入比特为 0 时：若 </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&lt;48</m:t>
                    </m:r>
                  </m:oMath>
                </a14:m>
                <a:r>
                  <a:rPr lang="zh-CN" altLang="zh-CN" dirty="0"/>
                  <a:t>，则 </a:t>
                </a:r>
                <a14:m>
                  <m:oMath xmlns:m="http://schemas.openxmlformats.org/officeDocument/2006/math">
                    <m:r>
                      <a:rPr lang="zh-CN" altLang="en-US" i="1">
                        <a:latin typeface="Cambria Math" panose="02040503050406030204" pitchFamily="18" charset="0"/>
                      </a:rPr>
                      <m:t>𝑐</m:t>
                    </m:r>
                    <m:sSup>
                      <m:sSupPr>
                        <m:ctrlPr>
                          <a:rPr lang="zh-CN" altLang="en-US" i="1">
                            <a:latin typeface="Cambria Math" panose="02040503050406030204" pitchFamily="18" charset="0"/>
                          </a:rPr>
                        </m:ctrlPr>
                      </m:sSupPr>
                      <m:e>
                        <m:r>
                          <a:rPr lang="zh-CN" altLang="en-US" i="1">
                            <a:latin typeface="Cambria Math" panose="02040503050406030204" pitchFamily="18" charset="0"/>
                          </a:rPr>
                          <m:t>𝑎</m:t>
                        </m:r>
                      </m:e>
                      <m:sup>
                        <m:r>
                          <a:rPr lang="en-US" altLang="zh-CN">
                            <a:latin typeface="Cambria Math" panose="02040503050406030204" pitchFamily="18" charset="0"/>
                          </a:rPr>
                          <m:t>′</m:t>
                        </m:r>
                      </m:sup>
                    </m:sSup>
                    <m:r>
                      <a:rPr lang="en-US" altLang="zh-CN">
                        <a:latin typeface="Cambria Math" panose="02040503050406030204" pitchFamily="18" charset="0"/>
                      </a:rPr>
                      <m:t>=</m:t>
                    </m:r>
                    <m:r>
                      <a:rPr lang="zh-CN" altLang="en-US" i="1">
                        <a:latin typeface="Cambria Math" panose="02040503050406030204" pitchFamily="18" charset="0"/>
                      </a:rPr>
                      <m:t>𝑐𝑎</m:t>
                    </m:r>
                    <m:r>
                      <a:rPr lang="en-US" altLang="zh-CN">
                        <a:latin typeface="Cambria Math" panose="02040503050406030204" pitchFamily="18" charset="0"/>
                      </a:rPr>
                      <m:t>+16−</m:t>
                    </m:r>
                    <m:r>
                      <a:rPr lang="zh-CN" altLang="en-US" i="1">
                        <a:latin typeface="Cambria Math" panose="02040503050406030204" pitchFamily="18" charset="0"/>
                      </a:rPr>
                      <m:t>𝑧</m:t>
                    </m:r>
                  </m:oMath>
                </a14:m>
                <a:r>
                  <a:rPr lang="zh-CN" altLang="zh-CN" dirty="0"/>
                  <a:t>；否则 </a:t>
                </a:r>
                <a14:m>
                  <m:oMath xmlns:m="http://schemas.openxmlformats.org/officeDocument/2006/math">
                    <m:r>
                      <a:rPr lang="zh-CN" altLang="en-US" i="1">
                        <a:latin typeface="Cambria Math" panose="02040503050406030204" pitchFamily="18" charset="0"/>
                      </a:rPr>
                      <m:t>𝑐</m:t>
                    </m:r>
                    <m:sSup>
                      <m:sSupPr>
                        <m:ctrlPr>
                          <a:rPr lang="zh-CN" altLang="en-US" i="1">
                            <a:latin typeface="Cambria Math" panose="02040503050406030204" pitchFamily="18" charset="0"/>
                          </a:rPr>
                        </m:ctrlPr>
                      </m:sSupPr>
                      <m:e>
                        <m:r>
                          <a:rPr lang="zh-CN" altLang="en-US" i="1">
                            <a:latin typeface="Cambria Math" panose="02040503050406030204" pitchFamily="18" charset="0"/>
                          </a:rPr>
                          <m:t>𝑎</m:t>
                        </m:r>
                      </m:e>
                      <m:sup>
                        <m:r>
                          <a:rPr lang="en-US" altLang="zh-CN">
                            <a:latin typeface="Cambria Math" panose="02040503050406030204" pitchFamily="18" charset="0"/>
                          </a:rPr>
                          <m:t>′</m:t>
                        </m:r>
                      </m:sup>
                    </m:sSup>
                    <m:r>
                      <a:rPr lang="en-US" altLang="zh-CN">
                        <a:latin typeface="Cambria Math" panose="02040503050406030204" pitchFamily="18" charset="0"/>
                      </a:rPr>
                      <m:t>=</m:t>
                    </m:r>
                    <m:r>
                      <a:rPr lang="zh-CN" altLang="en-US" i="1">
                        <a:latin typeface="Cambria Math" panose="02040503050406030204" pitchFamily="18" charset="0"/>
                      </a:rPr>
                      <m:t>𝑐𝑎</m:t>
                    </m:r>
                    <m:r>
                      <a:rPr lang="en-US" altLang="zh-CN">
                        <a:latin typeface="Cambria Math" panose="02040503050406030204" pitchFamily="18" charset="0"/>
                      </a:rPr>
                      <m:t>+80−</m:t>
                    </m:r>
                    <m:r>
                      <a:rPr lang="zh-CN" altLang="en-US" i="1">
                        <a:latin typeface="Cambria Math" panose="02040503050406030204" pitchFamily="18" charset="0"/>
                      </a:rPr>
                      <m:t>𝑧</m:t>
                    </m:r>
                  </m:oMath>
                </a14:m>
                <a:r>
                  <a:rPr lang="zh-CN" altLang="zh-CN" dirty="0"/>
                  <a:t>。这一策略存在两个不足：</a:t>
                </a:r>
              </a:p>
              <a:p>
                <a:endParaRPr lang="en-US" altLang="zh-CN" b="1" dirty="0"/>
              </a:p>
              <a:p>
                <a:r>
                  <a:rPr lang="zh-CN" altLang="zh-CN" b="1" dirty="0"/>
                  <a:t>修改量非最小化</a:t>
                </a:r>
                <a:r>
                  <a:rPr lang="zh-CN" altLang="zh-CN" dirty="0"/>
                  <a:t>：原公式对每个系数都执行固定的偏移操作，而未考虑该系数当前的余数值距离目标区间有多远。例如，当嵌入 0 且 </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=40</m:t>
                    </m:r>
                  </m:oMath>
                </a14:m>
                <a:r>
                  <a:rPr lang="zh-CN" altLang="zh-CN" dirty="0"/>
                  <a:t>（已经位于 </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16</m:t>
                        </m:r>
                      </m:e>
                      <m:e>
                        <m:r>
                          <a:rPr lang="en-US" altLang="zh-CN">
                            <a:latin typeface="Cambria Math" panose="02040503050406030204" pitchFamily="18" charset="0"/>
                          </a:rPr>
                          <m:t>48</m:t>
                        </m:r>
                      </m:e>
                    </m:d>
                  </m:oMath>
                </a14:m>
                <a:r>
                  <a:rPr lang="zh-CN" altLang="zh-CN" dirty="0"/>
                  <a:t> 区间内）时，公式仍执行 </a:t>
                </a:r>
                <a14:m>
                  <m:oMath xmlns:m="http://schemas.openxmlformats.org/officeDocument/2006/math">
                    <m:r>
                      <a:rPr lang="zh-CN" altLang="en-US" i="1">
                        <a:latin typeface="Cambria Math" panose="02040503050406030204" pitchFamily="18" charset="0"/>
                      </a:rPr>
                      <m:t>𝑐</m:t>
                    </m:r>
                    <m:sSup>
                      <m:sSupPr>
                        <m:ctrlPr>
                          <a:rPr lang="zh-CN" altLang="en-US" i="1">
                            <a:latin typeface="Cambria Math" panose="02040503050406030204" pitchFamily="18" charset="0"/>
                          </a:rPr>
                        </m:ctrlPr>
                      </m:sSupPr>
                      <m:e>
                        <m:r>
                          <a:rPr lang="zh-CN" altLang="en-US" i="1">
                            <a:latin typeface="Cambria Math" panose="02040503050406030204" pitchFamily="18" charset="0"/>
                          </a:rPr>
                          <m:t>𝑎</m:t>
                        </m:r>
                      </m:e>
                      <m:sup>
                        <m:r>
                          <a:rPr lang="en-US" altLang="zh-CN">
                            <a:latin typeface="Cambria Math" panose="02040503050406030204" pitchFamily="18" charset="0"/>
                          </a:rPr>
                          <m:t>′</m:t>
                        </m:r>
                      </m:sup>
                    </m:sSup>
                    <m:r>
                      <a:rPr lang="en-US" altLang="zh-CN">
                        <a:latin typeface="Cambria Math" panose="02040503050406030204" pitchFamily="18" charset="0"/>
                      </a:rPr>
                      <m:t>=</m:t>
                    </m:r>
                    <m:r>
                      <a:rPr lang="zh-CN" altLang="en-US" i="1">
                        <a:latin typeface="Cambria Math" panose="02040503050406030204" pitchFamily="18" charset="0"/>
                      </a:rPr>
                      <m:t>𝑐𝑎</m:t>
                    </m:r>
                    <m:r>
                      <a:rPr lang="en-US" altLang="zh-CN">
                        <a:latin typeface="Cambria Math" panose="02040503050406030204" pitchFamily="18" charset="0"/>
                      </a:rPr>
                      <m:t>+16−40=</m:t>
                    </m:r>
                    <m:r>
                      <a:rPr lang="zh-CN" altLang="en-US" i="1">
                        <a:latin typeface="Cambria Math" panose="02040503050406030204" pitchFamily="18" charset="0"/>
                      </a:rPr>
                      <m:t>𝑐𝑎</m:t>
                    </m:r>
                    <m:r>
                      <a:rPr lang="zh-CN" altLang="en-US">
                        <a:latin typeface="Cambria Math" panose="02040503050406030204" pitchFamily="18" charset="0"/>
                      </a:rPr>
                      <m:t>−</m:t>
                    </m:r>
                    <m:r>
                      <a:rPr lang="en-US" altLang="zh-CN">
                        <a:latin typeface="Cambria Math" panose="02040503050406030204" pitchFamily="18" charset="0"/>
                      </a:rPr>
                      <m:t>24</m:t>
                    </m:r>
                  </m:oMath>
                </a14:m>
                <a:r>
                  <a:rPr lang="zh-CN" altLang="zh-CN" dirty="0"/>
                  <a:t>，将余数强制设为 16——实际上该系数已经编码了正确的比特值，完全无需修改。</a:t>
                </a:r>
              </a:p>
              <a:p>
                <a:endParaRPr lang="en-US" altLang="zh-CN" b="1" dirty="0"/>
              </a:p>
              <a:p>
                <a:r>
                  <a:rPr lang="zh-CN" altLang="zh-CN" b="1" dirty="0"/>
                  <a:t>区间边界模糊</a:t>
                </a:r>
                <a:r>
                  <a:rPr lang="zh-CN" altLang="zh-CN" dirty="0"/>
                  <a:t>：提取公式以 </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=32</m:t>
                    </m:r>
                  </m:oMath>
                </a14:m>
                <a:r>
                  <a:rPr lang="zh-CN" altLang="zh-CN" dirty="0"/>
                  <a:t> 为单一阈值，嵌入时却将"0"映射到整个 </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16</m:t>
                        </m:r>
                      </m:e>
                      <m:e>
                        <m:r>
                          <a:rPr lang="en-US" altLang="zh-CN">
                            <a:latin typeface="Cambria Math" panose="02040503050406030204" pitchFamily="18" charset="0"/>
                          </a:rPr>
                          <m:t>48</m:t>
                        </m:r>
                      </m:e>
                    </m:d>
                  </m:oMath>
                </a14:m>
                <a:r>
                  <a:rPr lang="zh-CN" altLang="zh-CN" dirty="0"/>
                  <a:t> 区间，区间两端（如 </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=16</m:t>
                    </m:r>
                  </m:oMath>
                </a14:m>
                <a:r>
                  <a:rPr lang="zh-CN" altLang="zh-CN" dirty="0"/>
                  <a:t> 和 </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=48</m:t>
                    </m:r>
                  </m:oMath>
                </a14:m>
                <a:r>
                  <a:rPr lang="zh-CN" altLang="zh-CN" dirty="0"/>
                  <a:t>）的余数在受到微小扰动后极易跨过 32 阈值造成误判。</a:t>
                </a:r>
              </a:p>
            </p:txBody>
          </p:sp>
        </mc:Choice>
        <mc:Fallback xmlns="">
          <p:sp>
            <p:nvSpPr>
              <p:cNvPr id="7" name="文本框 6">
                <a:extLst>
                  <a:ext uri="{FF2B5EF4-FFF2-40B4-BE49-F238E27FC236}">
                    <a16:creationId xmlns:a16="http://schemas.microsoft.com/office/drawing/2014/main" id="{B48F3F98-192D-F9C8-56D1-51AA9534AC8C}"/>
                  </a:ext>
                </a:extLst>
              </p:cNvPr>
              <p:cNvSpPr txBox="1">
                <a:spLocks noRot="1" noChangeAspect="1" noMove="1" noResize="1" noEditPoints="1" noAdjustHandles="1" noChangeArrowheads="1" noChangeShapeType="1" noTextEdit="1"/>
              </p:cNvSpPr>
              <p:nvPr/>
            </p:nvSpPr>
            <p:spPr>
              <a:xfrm>
                <a:off x="645795" y="2853812"/>
                <a:ext cx="10142845" cy="2572717"/>
              </a:xfrm>
              <a:prstGeom prst="rect">
                <a:avLst/>
              </a:prstGeom>
              <a:blipFill>
                <a:blip r:embed="rId4"/>
                <a:stretch>
                  <a:fillRect l="-541" t="-1185" r="-2704" b="-5213"/>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22401D6-9D1B-E96F-2121-0C7B1607C6E3}"/>
              </a:ext>
            </a:extLst>
          </p:cNvPr>
          <p:cNvPicPr>
            <a:picLocks noChangeAspect="1"/>
          </p:cNvPicPr>
          <p:nvPr/>
        </p:nvPicPr>
        <p:blipFill>
          <a:blip r:embed="rId5"/>
          <a:stretch>
            <a:fillRect/>
          </a:stretch>
        </p:blipFill>
        <p:spPr>
          <a:xfrm>
            <a:off x="2671378" y="466571"/>
            <a:ext cx="6208016" cy="2251259"/>
          </a:xfrm>
          <a:prstGeom prst="rect">
            <a:avLst/>
          </a:prstGeom>
        </p:spPr>
      </p:pic>
    </p:spTree>
    <p:extLst>
      <p:ext uri="{BB962C8B-B14F-4D97-AF65-F5344CB8AC3E}">
        <p14:creationId xmlns:p14="http://schemas.microsoft.com/office/powerpoint/2010/main" val="252044006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DCE6A-6EDB-FD28-DE7B-BC859FE8D9A9}"/>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A8ADC5F0-7FDC-2938-09E3-AA2A147C86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3B29D884-9671-AF4F-9029-93BEC3328F97}"/>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修正公式</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76C050A-5636-B27D-1283-C3638D037649}"/>
                  </a:ext>
                </a:extLst>
              </p:cNvPr>
              <p:cNvSpPr txBox="1"/>
              <p:nvPr/>
            </p:nvSpPr>
            <p:spPr>
              <a:xfrm>
                <a:off x="478130" y="1005556"/>
                <a:ext cx="6422024" cy="5385873"/>
              </a:xfrm>
              <a:prstGeom prst="rect">
                <a:avLst/>
              </a:prstGeom>
              <a:noFill/>
            </p:spPr>
            <p:txBody>
              <a:bodyPr wrap="square">
                <a:noAutofit/>
              </a:bodyPr>
              <a:lstStyle/>
              <a:p>
                <a:r>
                  <a:rPr lang="zh-CN" altLang="zh-CN" dirty="0"/>
                  <a:t>我们的改进思路是：不再使用固定的偏移公式，而是为每个比特值设定明确的目标余数值，计算从当前余数到达目标余数所需的最短增量，从而最小化对每个系数的修改幅度。</a:t>
                </a:r>
              </a:p>
              <a:p>
                <a:r>
                  <a:rPr lang="zh-CN" altLang="zh-CN" dirty="0"/>
                  <a:t>具体而言，嵌入规则重新设计如下：</a:t>
                </a:r>
              </a:p>
              <a:p>
                <a:r>
                  <a:rPr lang="zh-CN" altLang="zh-CN" b="1" dirty="0"/>
                  <a:t>嵌入比特 1</a:t>
                </a:r>
                <a:r>
                  <a:rPr lang="zh-CN" altLang="zh-CN" dirty="0"/>
                  <a:t>：目标余数固定为 </a:t>
                </a:r>
                <a14:m>
                  <m:oMath xmlns:m="http://schemas.openxmlformats.org/officeDocument/2006/math">
                    <m:r>
                      <a:rPr lang="en-US" altLang="zh-CN">
                        <a:latin typeface="Cambria Math" panose="02040503050406030204" pitchFamily="18" charset="0"/>
                      </a:rPr>
                      <m:t>32</m:t>
                    </m:r>
                  </m:oMath>
                </a14:m>
                <a:r>
                  <a:rPr lang="zh-CN" altLang="zh-CN" dirty="0"/>
                  <a:t>（即 </a:t>
                </a:r>
                <a14:m>
                  <m:oMath xmlns:m="http://schemas.openxmlformats.org/officeDocument/2006/math">
                    <m:d>
                      <m:dPr>
                        <m:begChr m:val="["/>
                        <m:sepChr m:val=","/>
                        <m:ctrlPr>
                          <a:rPr lang="zh-CN" altLang="en-US" i="1">
                            <a:latin typeface="Cambria Math" panose="02040503050406030204" pitchFamily="18" charset="0"/>
                          </a:rPr>
                        </m:ctrlPr>
                      </m:dPr>
                      <m:e>
                        <m:r>
                          <a:rPr lang="zh-CN" altLang="en-US" i="1">
                            <a:latin typeface="Cambria Math" panose="02040503050406030204" pitchFamily="18" charset="0"/>
                          </a:rPr>
                          <m:t>𝑛</m:t>
                        </m:r>
                      </m:e>
                      <m:e>
                        <m:r>
                          <a:rPr lang="zh-CN" altLang="en-US" i="1">
                            <a:latin typeface="Cambria Math" panose="02040503050406030204" pitchFamily="18" charset="0"/>
                          </a:rPr>
                          <m:t>𝑤</m:t>
                        </m:r>
                        <m:r>
                          <a:rPr lang="en-US" altLang="zh-CN">
                            <a:latin typeface="Cambria Math" panose="02040503050406030204" pitchFamily="18" charset="0"/>
                          </a:rPr>
                          <m:t>/43</m:t>
                        </m:r>
                        <m:r>
                          <a:rPr lang="zh-CN" altLang="en-US" i="1">
                            <a:latin typeface="Cambria Math" panose="02040503050406030204" pitchFamily="18" charset="0"/>
                          </a:rPr>
                          <m:t>𝑛𝑤</m:t>
                        </m:r>
                        <m:r>
                          <a:rPr lang="en-US" altLang="zh-CN">
                            <a:latin typeface="Cambria Math" panose="02040503050406030204" pitchFamily="18" charset="0"/>
                          </a:rPr>
                          <m:t>/4</m:t>
                        </m:r>
                      </m:e>
                    </m:d>
                  </m:oMath>
                </a14:m>
                <a:r>
                  <a:rPr lang="zh-CN" altLang="zh-CN" dirty="0"/>
                  <a:t> 区间的中点，也即 </a:t>
                </a:r>
                <a14:m>
                  <m:oMath xmlns:m="http://schemas.openxmlformats.org/officeDocument/2006/math">
                    <m:r>
                      <a:rPr lang="zh-CN" altLang="en-US" i="1">
                        <a:latin typeface="Cambria Math" panose="02040503050406030204" pitchFamily="18" charset="0"/>
                      </a:rPr>
                      <m:t>𝑛𝑤</m:t>
                    </m:r>
                    <m:r>
                      <a:rPr lang="en-US" altLang="zh-CN">
                        <a:latin typeface="Cambria Math" panose="02040503050406030204" pitchFamily="18" charset="0"/>
                      </a:rPr>
                      <m:t>/2</m:t>
                    </m:r>
                  </m:oMath>
                </a14:m>
                <a:r>
                  <a:rPr lang="zh-CN" altLang="zh-CN" dirty="0"/>
                  <a:t>），使提取判决时即使受到一定扰动也不易越界：</a:t>
                </a:r>
              </a:p>
              <a:p>
                <a:pPr/>
                <a14:m>
                  <m:oMathPara xmlns:m="http://schemas.openxmlformats.org/officeDocument/2006/math">
                    <m:oMathParaPr>
                      <m:jc m:val="centerGroup"/>
                    </m:oMathParaPr>
                    <m:oMath xmlns:m="http://schemas.openxmlformats.org/officeDocument/2006/math">
                      <m:r>
                        <m:rPr>
                          <m:nor/>
                        </m:rPr>
                        <a:rPr lang="en-US" altLang="zh-CN" b="0"/>
                        <m:t>target</m:t>
                      </m:r>
                      <m:r>
                        <m:rPr>
                          <m:lit/>
                          <m:nor/>
                        </m:rPr>
                        <a:rPr lang="en-US" altLang="zh-CN" b="0" i="1"/>
                        <m:t>_</m:t>
                      </m:r>
                      <m:r>
                        <m:rPr>
                          <m:nor/>
                        </m:rPr>
                        <a:rPr lang="en-US" altLang="zh-CN" b="0" i="1"/>
                        <m:t>z</m:t>
                      </m:r>
                      <m:r>
                        <a:rPr lang="en-US" altLang="zh-CN">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𝑛𝑤</m:t>
                          </m:r>
                        </m:num>
                        <m:den>
                          <m:r>
                            <a:rPr lang="en-US" altLang="zh-CN">
                              <a:latin typeface="Cambria Math" panose="02040503050406030204" pitchFamily="18" charset="0"/>
                            </a:rPr>
                            <m:t>2</m:t>
                          </m:r>
                        </m:den>
                      </m:f>
                      <m:r>
                        <a:rPr lang="en-US" altLang="zh-CN">
                          <a:latin typeface="Cambria Math" panose="02040503050406030204" pitchFamily="18" charset="0"/>
                        </a:rPr>
                        <m:t>, </m:t>
                      </m:r>
                      <m:r>
                        <m:rPr>
                          <m:sty m:val="p"/>
                        </m:rPr>
                        <a:rPr lang="en-US" altLang="zh-CN">
                          <a:latin typeface="Cambria Math" panose="02040503050406030204" pitchFamily="18" charset="0"/>
                        </a:rPr>
                        <m:t>Δ</m:t>
                      </m:r>
                      <m:r>
                        <a:rPr lang="en-US" altLang="zh-CN">
                          <a:latin typeface="Cambria Math" panose="02040503050406030204" pitchFamily="18" charset="0"/>
                        </a:rPr>
                        <m:t>=</m:t>
                      </m:r>
                      <m:r>
                        <m:rPr>
                          <m:nor/>
                        </m:rPr>
                        <a:rPr lang="en-US" altLang="zh-CN" i="1"/>
                        <m:t>target</m:t>
                      </m:r>
                      <m:r>
                        <m:rPr>
                          <m:lit/>
                          <m:nor/>
                        </m:rPr>
                        <a:rPr lang="en-US" altLang="zh-CN" i="1"/>
                        <m:t>_</m:t>
                      </m:r>
                      <m:r>
                        <m:rPr>
                          <m:nor/>
                        </m:rPr>
                        <a:rPr lang="en-US" altLang="zh-CN" i="1"/>
                        <m:t>z</m:t>
                      </m:r>
                      <m:r>
                        <a:rPr lang="zh-CN" altLang="en-US">
                          <a:latin typeface="Cambria Math" panose="02040503050406030204" pitchFamily="18" charset="0"/>
                        </a:rPr>
                        <m:t>−</m:t>
                      </m:r>
                      <m:r>
                        <a:rPr lang="zh-CN" altLang="en-US" i="1">
                          <a:latin typeface="Cambria Math" panose="02040503050406030204" pitchFamily="18" charset="0"/>
                        </a:rPr>
                        <m:t>𝑧</m:t>
                      </m:r>
                    </m:oMath>
                  </m:oMathPara>
                </a14:m>
                <a:endParaRPr lang="zh-CN" altLang="en-US" b="0" dirty="0"/>
              </a:p>
              <a:p>
                <a:r>
                  <a:rPr lang="zh-CN" altLang="zh-CN" b="1" dirty="0"/>
                  <a:t>嵌入比特 0</a:t>
                </a:r>
                <a:r>
                  <a:rPr lang="zh-CN" altLang="zh-CN" dirty="0"/>
                  <a:t>：目标余数自适应选取 </a:t>
                </a:r>
                <a14:m>
                  <m:oMath xmlns:m="http://schemas.openxmlformats.org/officeDocument/2006/math">
                    <m:r>
                      <a:rPr lang="zh-CN" altLang="en-US" i="1">
                        <a:latin typeface="Cambria Math" panose="02040503050406030204" pitchFamily="18" charset="0"/>
                      </a:rPr>
                      <m:t>𝑛𝑤</m:t>
                    </m:r>
                    <m:r>
                      <a:rPr lang="en-US" altLang="zh-CN">
                        <a:latin typeface="Cambria Math" panose="02040503050406030204" pitchFamily="18" charset="0"/>
                      </a:rPr>
                      <m:t>/8=8</m:t>
                    </m:r>
                  </m:oMath>
                </a14:m>
                <a:r>
                  <a:rPr lang="zh-CN" altLang="zh-CN" dirty="0"/>
                  <a:t> 或 </a:t>
                </a:r>
                <a14:m>
                  <m:oMath xmlns:m="http://schemas.openxmlformats.org/officeDocument/2006/math">
                    <m:r>
                      <a:rPr lang="en-US" altLang="zh-CN">
                        <a:latin typeface="Cambria Math" panose="02040503050406030204" pitchFamily="18" charset="0"/>
                      </a:rPr>
                      <m:t>7</m:t>
                    </m:r>
                    <m:r>
                      <a:rPr lang="zh-CN" altLang="en-US" i="1">
                        <a:latin typeface="Cambria Math" panose="02040503050406030204" pitchFamily="18" charset="0"/>
                      </a:rPr>
                      <m:t>𝑛𝑤</m:t>
                    </m:r>
                    <m:r>
                      <a:rPr lang="en-US" altLang="zh-CN">
                        <a:latin typeface="Cambria Math" panose="02040503050406030204" pitchFamily="18" charset="0"/>
                      </a:rPr>
                      <m:t>/8=56</m:t>
                    </m:r>
                  </m:oMath>
                </a14:m>
                <a:r>
                  <a:rPr lang="zh-CN" altLang="zh-CN" dirty="0"/>
                  <a:t>（即两个"0区间" </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0</m:t>
                        </m:r>
                      </m:e>
                      <m:e>
                        <m:r>
                          <a:rPr lang="en-US" altLang="zh-CN">
                            <a:latin typeface="Cambria Math" panose="02040503050406030204" pitchFamily="18" charset="0"/>
                          </a:rPr>
                          <m:t>16</m:t>
                        </m:r>
                      </m:e>
                    </m:d>
                  </m:oMath>
                </a14:m>
                <a:r>
                  <a:rPr lang="zh-CN" altLang="zh-CN" dirty="0"/>
                  <a:t> 和 </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48</m:t>
                        </m:r>
                      </m:e>
                      <m:e>
                        <m:r>
                          <a:rPr lang="en-US" altLang="zh-CN">
                            <a:latin typeface="Cambria Math" panose="02040503050406030204" pitchFamily="18" charset="0"/>
                          </a:rPr>
                          <m:t>64</m:t>
                        </m:r>
                      </m:e>
                    </m:d>
                  </m:oMath>
                </a14:m>
                <a:r>
                  <a:rPr lang="zh-CN" altLang="zh-CN" dirty="0"/>
                  <a:t> 各自的中心），选择距离当前余数最近的那一个：</a:t>
                </a:r>
              </a:p>
              <a:p>
                <a:pPr/>
                <a14:m>
                  <m:oMathPara xmlns:m="http://schemas.openxmlformats.org/officeDocument/2006/math">
                    <m:oMathParaPr>
                      <m:jc m:val="centerGroup"/>
                    </m:oMathParaPr>
                    <m:oMath xmlns:m="http://schemas.openxmlformats.org/officeDocument/2006/math">
                      <m:r>
                        <m:rPr>
                          <m:nor/>
                        </m:rPr>
                        <a:rPr lang="en-US" altLang="zh-CN" b="0"/>
                        <m:t>target</m:t>
                      </m:r>
                      <m:r>
                        <m:rPr>
                          <m:lit/>
                          <m:nor/>
                        </m:rPr>
                        <a:rPr lang="en-US" altLang="zh-CN" b="0" i="1"/>
                        <m:t>_</m:t>
                      </m:r>
                      <m:r>
                        <m:rPr>
                          <m:nor/>
                        </m:rPr>
                        <a:rPr lang="en-US" altLang="zh-CN" b="0" i="1"/>
                        <m:t>z</m:t>
                      </m:r>
                      <m:r>
                        <a:rPr lang="en-US" altLang="zh-CN">
                          <a:latin typeface="Cambria Math" panose="02040503050406030204" pitchFamily="18" charset="0"/>
                        </a:rPr>
                        <m:t>=</m:t>
                      </m:r>
                      <m:d>
                        <m:dPr>
                          <m:begChr m:val="{"/>
                          <m:endChr m:val=""/>
                          <m:ctrlPr>
                            <a:rPr lang="zh-CN" altLang="en-US" i="1">
                              <a:latin typeface="Cambria Math" panose="02040503050406030204" pitchFamily="18" charset="0"/>
                            </a:rPr>
                          </m:ctrlPr>
                        </m:dPr>
                        <m:e>
                          <m:m>
                            <m:mPr>
                              <m:plcHide m:val="on"/>
                              <m:mcs>
                                <m:mc>
                                  <m:mcPr>
                                    <m:count m:val="2"/>
                                    <m:mcJc m:val="center"/>
                                  </m:mcPr>
                                </m:mc>
                              </m:mcs>
                              <m:ctrlPr>
                                <a:rPr lang="zh-CN" altLang="en-US" i="1">
                                  <a:latin typeface="Cambria Math" panose="02040503050406030204" pitchFamily="18" charset="0"/>
                                </a:rPr>
                              </m:ctrlPr>
                            </m:mPr>
                            <m:mr>
                              <m:e>
                                <m:f>
                                  <m:fPr>
                                    <m:ctrlPr>
                                      <a:rPr lang="zh-CN" altLang="en-US" i="1">
                                        <a:latin typeface="Cambria Math" panose="02040503050406030204" pitchFamily="18" charset="0"/>
                                      </a:rPr>
                                    </m:ctrlPr>
                                  </m:fPr>
                                  <m:num>
                                    <m:r>
                                      <a:rPr lang="zh-CN" altLang="en-US" i="1">
                                        <a:latin typeface="Cambria Math" panose="02040503050406030204" pitchFamily="18" charset="0"/>
                                      </a:rPr>
                                      <m:t>𝑛𝑤</m:t>
                                    </m:r>
                                  </m:num>
                                  <m:den>
                                    <m:r>
                                      <a:rPr lang="en-US" altLang="zh-CN">
                                        <a:latin typeface="Cambria Math" panose="02040503050406030204" pitchFamily="18" charset="0"/>
                                      </a:rPr>
                                      <m:t>8</m:t>
                                    </m:r>
                                  </m:den>
                                </m:f>
                                <m:r>
                                  <a:rPr lang="en-US" altLang="zh-CN">
                                    <a:latin typeface="Cambria Math" panose="02040503050406030204" pitchFamily="18" charset="0"/>
                                  </a:rPr>
                                  <m:t>=8,</m:t>
                                </m:r>
                              </m:e>
                              <m:e>
                                <m:r>
                                  <m:rPr>
                                    <m:nor/>
                                  </m:rPr>
                                  <a:rPr lang="en-US" altLang="zh-CN" i="1"/>
                                  <m:t>if</m:t>
                                </m:r>
                                <m:r>
                                  <m:rPr>
                                    <m:nor/>
                                  </m:rPr>
                                  <a:rPr lang="en-US" altLang="zh-CN" i="1"/>
                                  <m:t> </m:t>
                                </m:r>
                                <m:r>
                                  <a:rPr lang="zh-CN" altLang="en-US" i="1">
                                    <a:latin typeface="Cambria Math" panose="02040503050406030204" pitchFamily="18" charset="0"/>
                                  </a:rPr>
                                  <m:t>𝑧</m:t>
                                </m:r>
                                <m:r>
                                  <a:rPr lang="en-US" altLang="zh-CN">
                                    <a:latin typeface="Cambria Math" panose="02040503050406030204" pitchFamily="18" charset="0"/>
                                  </a:rPr>
                                  <m:t>&lt;</m:t>
                                </m:r>
                                <m:f>
                                  <m:fPr>
                                    <m:ctrlPr>
                                      <a:rPr lang="zh-CN" altLang="en-US" i="1">
                                        <a:latin typeface="Cambria Math" panose="02040503050406030204" pitchFamily="18" charset="0"/>
                                      </a:rPr>
                                    </m:ctrlPr>
                                  </m:fPr>
                                  <m:num>
                                    <m:r>
                                      <a:rPr lang="zh-CN" altLang="en-US" i="1">
                                        <a:latin typeface="Cambria Math" panose="02040503050406030204" pitchFamily="18" charset="0"/>
                                      </a:rPr>
                                      <m:t>𝑛𝑤</m:t>
                                    </m:r>
                                  </m:num>
                                  <m:den>
                                    <m:r>
                                      <a:rPr lang="en-US" altLang="zh-CN">
                                        <a:latin typeface="Cambria Math" panose="02040503050406030204" pitchFamily="18" charset="0"/>
                                      </a:rPr>
                                      <m:t>2</m:t>
                                    </m:r>
                                  </m:den>
                                </m:f>
                              </m:e>
                            </m:mr>
                            <m:mr>
                              <m:e>
                                <m:f>
                                  <m:fPr>
                                    <m:ctrlPr>
                                      <a:rPr lang="zh-CN" altLang="en-US" i="1">
                                        <a:latin typeface="Cambria Math" panose="02040503050406030204" pitchFamily="18" charset="0"/>
                                      </a:rPr>
                                    </m:ctrlPr>
                                  </m:fPr>
                                  <m:num>
                                    <m:r>
                                      <a:rPr lang="en-US" altLang="zh-CN">
                                        <a:latin typeface="Cambria Math" panose="02040503050406030204" pitchFamily="18" charset="0"/>
                                      </a:rPr>
                                      <m:t>7</m:t>
                                    </m:r>
                                    <m:r>
                                      <a:rPr lang="zh-CN" altLang="en-US" i="1">
                                        <a:latin typeface="Cambria Math" panose="02040503050406030204" pitchFamily="18" charset="0"/>
                                      </a:rPr>
                                      <m:t>𝑛𝑤</m:t>
                                    </m:r>
                                  </m:num>
                                  <m:den>
                                    <m:r>
                                      <a:rPr lang="en-US" altLang="zh-CN">
                                        <a:latin typeface="Cambria Math" panose="02040503050406030204" pitchFamily="18" charset="0"/>
                                      </a:rPr>
                                      <m:t>8</m:t>
                                    </m:r>
                                  </m:den>
                                </m:f>
                                <m:r>
                                  <a:rPr lang="en-US" altLang="zh-CN">
                                    <a:latin typeface="Cambria Math" panose="02040503050406030204" pitchFamily="18" charset="0"/>
                                  </a:rPr>
                                  <m:t>=56,</m:t>
                                </m:r>
                              </m:e>
                              <m:e>
                                <m:r>
                                  <m:rPr>
                                    <m:nor/>
                                  </m:rPr>
                                  <a:rPr lang="en-US" altLang="zh-CN" i="1"/>
                                  <m:t>if</m:t>
                                </m:r>
                                <m:r>
                                  <m:rPr>
                                    <m:nor/>
                                  </m:rPr>
                                  <a:rPr lang="en-US" altLang="zh-CN" i="1"/>
                                  <m:t> </m:t>
                                </m:r>
                                <m:r>
                                  <a:rPr lang="zh-CN" altLang="en-US" i="1">
                                    <a:latin typeface="Cambria Math" panose="02040503050406030204" pitchFamily="18" charset="0"/>
                                  </a:rPr>
                                  <m:t>𝑧</m:t>
                                </m:r>
                                <m:r>
                                  <a:rPr lang="zh-CN" altLang="en-US">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𝑛𝑤</m:t>
                                    </m:r>
                                  </m:num>
                                  <m:den>
                                    <m:r>
                                      <a:rPr lang="en-US" altLang="zh-CN">
                                        <a:latin typeface="Cambria Math" panose="02040503050406030204" pitchFamily="18" charset="0"/>
                                      </a:rPr>
                                      <m:t>2</m:t>
                                    </m:r>
                                  </m:den>
                                </m:f>
                              </m:e>
                            </m:mr>
                          </m:m>
                        </m:e>
                      </m:d>
                    </m:oMath>
                  </m:oMathPara>
                </a14:m>
                <a:endParaRPr lang="zh-CN" altLang="en-US" b="0" dirty="0"/>
              </a:p>
              <a:p>
                <a:r>
                  <a:rPr lang="zh-CN" altLang="zh-CN" b="1" dirty="0"/>
                  <a:t>增量裁剪</a:t>
                </a:r>
                <a:r>
                  <a:rPr lang="zh-CN" altLang="zh-CN" dirty="0"/>
                  <a:t>：为使修改量始终最小，将增量 </a:t>
                </a:r>
                <a14:m>
                  <m:oMath xmlns:m="http://schemas.openxmlformats.org/officeDocument/2006/math">
                    <m:r>
                      <m:rPr>
                        <m:sty m:val="p"/>
                      </m:rPr>
                      <a:rPr lang="en-US" altLang="zh-CN">
                        <a:latin typeface="Cambria Math" panose="02040503050406030204" pitchFamily="18" charset="0"/>
                      </a:rPr>
                      <m:t>Δ</m:t>
                    </m:r>
                  </m:oMath>
                </a14:m>
                <a:r>
                  <a:rPr lang="zh-CN" altLang="zh-CN" dirty="0"/>
                  <a:t> 约束在</a:t>
                </a:r>
                <a:r>
                  <a:rPr lang="en-US" altLang="zh-CN" dirty="0"/>
                  <a:t>[- </a:t>
                </a:r>
                <a:r>
                  <a:rPr lang="en-US" altLang="zh-CN" dirty="0" err="1"/>
                  <a:t>nw</a:t>
                </a:r>
                <a:r>
                  <a:rPr lang="en-US" altLang="zh-CN" dirty="0"/>
                  <a:t>/4 , </a:t>
                </a:r>
                <a:r>
                  <a:rPr lang="en-US" altLang="zh-CN" dirty="0" err="1"/>
                  <a:t>nw</a:t>
                </a:r>
                <a:r>
                  <a:rPr lang="en-US" altLang="zh-CN" dirty="0"/>
                  <a:t>/4]</a:t>
                </a:r>
                <a:r>
                  <a:rPr lang="zh-CN" altLang="zh-CN" dirty="0"/>
                  <a:t>范围内。若 </a:t>
                </a:r>
                <a14:m>
                  <m:oMath xmlns:m="http://schemas.openxmlformats.org/officeDocument/2006/math">
                    <m:r>
                      <m:rPr>
                        <m:sty m:val="p"/>
                      </m:rPr>
                      <a:rPr lang="en-US" altLang="zh-CN">
                        <a:latin typeface="Cambria Math" panose="02040503050406030204" pitchFamily="18" charset="0"/>
                      </a:rPr>
                      <m:t>Δ</m:t>
                    </m:r>
                    <m:r>
                      <a:rPr lang="en-US" altLang="zh-CN">
                        <a:latin typeface="Cambria Math" panose="02040503050406030204" pitchFamily="18" charset="0"/>
                      </a:rPr>
                      <m:t>&gt;</m:t>
                    </m:r>
                    <m:r>
                      <a:rPr lang="zh-CN" altLang="en-US" i="1">
                        <a:latin typeface="Cambria Math" panose="02040503050406030204" pitchFamily="18" charset="0"/>
                      </a:rPr>
                      <m:t>𝑛𝑤</m:t>
                    </m:r>
                    <m:r>
                      <a:rPr lang="en-US" altLang="zh-CN">
                        <a:latin typeface="Cambria Math" panose="02040503050406030204" pitchFamily="18" charset="0"/>
                      </a:rPr>
                      <m:t>/4</m:t>
                    </m:r>
                  </m:oMath>
                </a14:m>
                <a:r>
                  <a:rPr lang="zh-CN" altLang="zh-CN" dirty="0"/>
                  <a:t>，则减 </a:t>
                </a:r>
                <a14:m>
                  <m:oMath xmlns:m="http://schemas.openxmlformats.org/officeDocument/2006/math">
                    <m:r>
                      <a:rPr lang="zh-CN" altLang="en-US" i="1">
                        <a:latin typeface="Cambria Math" panose="02040503050406030204" pitchFamily="18" charset="0"/>
                      </a:rPr>
                      <m:t>𝑛𝑤</m:t>
                    </m:r>
                  </m:oMath>
                </a14:m>
                <a:r>
                  <a:rPr lang="zh-CN" altLang="zh-CN" dirty="0"/>
                  <a:t>；若 </a:t>
                </a:r>
                <a14:m>
                  <m:oMath xmlns:m="http://schemas.openxmlformats.org/officeDocument/2006/math">
                    <m:r>
                      <m:rPr>
                        <m:sty m:val="p"/>
                      </m:rPr>
                      <a:rPr lang="en-US" altLang="zh-CN">
                        <a:latin typeface="Cambria Math" panose="02040503050406030204" pitchFamily="18" charset="0"/>
                      </a:rPr>
                      <m:t>Δ</m:t>
                    </m:r>
                    <m:r>
                      <a:rPr lang="en-US" altLang="zh-CN">
                        <a:latin typeface="Cambria Math" panose="02040503050406030204" pitchFamily="18" charset="0"/>
                      </a:rPr>
                      <m:t>&lt;−</m:t>
                    </m:r>
                    <m:r>
                      <a:rPr lang="zh-CN" altLang="en-US" i="1">
                        <a:latin typeface="Cambria Math" panose="02040503050406030204" pitchFamily="18" charset="0"/>
                      </a:rPr>
                      <m:t>𝑛𝑤</m:t>
                    </m:r>
                    <m:r>
                      <a:rPr lang="en-US" altLang="zh-CN">
                        <a:latin typeface="Cambria Math" panose="02040503050406030204" pitchFamily="18" charset="0"/>
                      </a:rPr>
                      <m:t>/4</m:t>
                    </m:r>
                  </m:oMath>
                </a14:m>
                <a:r>
                  <a:rPr lang="zh-CN" altLang="zh-CN" dirty="0"/>
                  <a:t>，则加 </a:t>
                </a:r>
                <a14:m>
                  <m:oMath xmlns:m="http://schemas.openxmlformats.org/officeDocument/2006/math">
                    <m:r>
                      <a:rPr lang="zh-CN" altLang="en-US" i="1">
                        <a:latin typeface="Cambria Math" panose="02040503050406030204" pitchFamily="18" charset="0"/>
                      </a:rPr>
                      <m:t>𝑛𝑤</m:t>
                    </m:r>
                  </m:oMath>
                </a14:m>
                <a:r>
                  <a:rPr lang="zh-CN" altLang="zh-CN" dirty="0"/>
                  <a:t>。这利用了模运算的周期性——通过"绕一圈"走更短的路径到达目标余数。</a:t>
                </a:r>
              </a:p>
            </p:txBody>
          </p:sp>
        </mc:Choice>
        <mc:Fallback xmlns="">
          <p:sp>
            <p:nvSpPr>
              <p:cNvPr id="7" name="文本框 6">
                <a:extLst>
                  <a:ext uri="{FF2B5EF4-FFF2-40B4-BE49-F238E27FC236}">
                    <a16:creationId xmlns:a16="http://schemas.microsoft.com/office/drawing/2014/main" id="{876C050A-5636-B27D-1283-C3638D037649}"/>
                  </a:ext>
                </a:extLst>
              </p:cNvPr>
              <p:cNvSpPr txBox="1">
                <a:spLocks noRot="1" noChangeAspect="1" noMove="1" noResize="1" noEditPoints="1" noAdjustHandles="1" noChangeArrowheads="1" noChangeShapeType="1" noTextEdit="1"/>
              </p:cNvSpPr>
              <p:nvPr/>
            </p:nvSpPr>
            <p:spPr>
              <a:xfrm>
                <a:off x="478130" y="1005556"/>
                <a:ext cx="6422024" cy="5385873"/>
              </a:xfrm>
              <a:prstGeom prst="rect">
                <a:avLst/>
              </a:prstGeom>
              <a:blipFill>
                <a:blip r:embed="rId4"/>
                <a:stretch>
                  <a:fillRect l="-759" t="-680" r="-664" b="-305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8DD7889-F2E0-F1AE-DAA4-E9A33F803713}"/>
              </a:ext>
            </a:extLst>
          </p:cNvPr>
          <p:cNvPicPr>
            <a:picLocks noChangeAspect="1"/>
          </p:cNvPicPr>
          <p:nvPr/>
        </p:nvPicPr>
        <p:blipFill>
          <a:blip r:embed="rId5"/>
          <a:stretch>
            <a:fillRect/>
          </a:stretch>
        </p:blipFill>
        <p:spPr>
          <a:xfrm>
            <a:off x="6900154" y="466571"/>
            <a:ext cx="3910670" cy="5600280"/>
          </a:xfrm>
          <a:prstGeom prst="rect">
            <a:avLst/>
          </a:prstGeom>
        </p:spPr>
      </p:pic>
    </p:spTree>
    <p:extLst>
      <p:ext uri="{BB962C8B-B14F-4D97-AF65-F5344CB8AC3E}">
        <p14:creationId xmlns:p14="http://schemas.microsoft.com/office/powerpoint/2010/main" val="9022110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1AE8D-AAFE-7420-CB33-F1802F794BB8}"/>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B3770798-349F-A04A-4815-AE10D1CD6C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EACF7C2E-5B35-E863-4F8F-5347E55B6E36}"/>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修正公式</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8C7B0FE-B7B5-A7B7-92F9-DA3EDF87E3E0}"/>
                  </a:ext>
                </a:extLst>
              </p:cNvPr>
              <p:cNvSpPr txBox="1"/>
              <p:nvPr/>
            </p:nvSpPr>
            <p:spPr>
              <a:xfrm>
                <a:off x="478130" y="1005556"/>
                <a:ext cx="6422024" cy="5385873"/>
              </a:xfrm>
              <a:prstGeom prst="rect">
                <a:avLst/>
              </a:prstGeom>
              <a:noFill/>
            </p:spPr>
            <p:txBody>
              <a:bodyPr wrap="square">
                <a:noAutofit/>
              </a:bodyPr>
              <a:lstStyle/>
              <a:p>
                <a:r>
                  <a:rPr lang="zh-CN" altLang="zh-CN" dirty="0"/>
                  <a:t>提取端的判决规则也相应调整，由原来的单阈值（</a:t>
                </a:r>
                <a14:m>
                  <m:oMath xmlns:m="http://schemas.openxmlformats.org/officeDocument/2006/math">
                    <m:r>
                      <a:rPr lang="zh-CN" altLang="en-US" i="1">
                        <a:latin typeface="Cambria Math" panose="02040503050406030204" pitchFamily="18" charset="0"/>
                      </a:rPr>
                      <m:t>𝑧</m:t>
                    </m:r>
                    <m:r>
                      <a:rPr lang="en-US" altLang="zh-CN">
                        <a:latin typeface="Cambria Math" panose="02040503050406030204" pitchFamily="18" charset="0"/>
                      </a:rPr>
                      <m:t>&lt;32</m:t>
                    </m:r>
                  </m:oMath>
                </a14:m>
                <a:r>
                  <a:rPr lang="zh-CN" altLang="zh-CN" dirty="0"/>
                  <a:t> → 0）改为更稳健的区间判断：</a:t>
                </a:r>
                <a:endParaRPr lang="en-US" altLang="zh-CN" dirty="0"/>
              </a:p>
              <a:p>
                <a:endParaRPr lang="en-US" altLang="zh-CN" dirty="0"/>
              </a:p>
              <a:p>
                <a:endParaRPr lang="en-US" altLang="zh-CN" dirty="0"/>
              </a:p>
              <a:p>
                <a:endParaRPr lang="en-US" altLang="zh-CN" dirty="0"/>
              </a:p>
              <a:p>
                <a:endParaRPr lang="en-US" altLang="zh-CN" dirty="0"/>
              </a:p>
              <a:p>
                <a:endParaRPr lang="zh-CN" altLang="zh-CN" dirty="0"/>
              </a:p>
            </p:txBody>
          </p:sp>
        </mc:Choice>
        <mc:Fallback xmlns="">
          <p:sp>
            <p:nvSpPr>
              <p:cNvPr id="7" name="文本框 6">
                <a:extLst>
                  <a:ext uri="{FF2B5EF4-FFF2-40B4-BE49-F238E27FC236}">
                    <a16:creationId xmlns:a16="http://schemas.microsoft.com/office/drawing/2014/main" id="{D8C7B0FE-B7B5-A7B7-92F9-DA3EDF87E3E0}"/>
                  </a:ext>
                </a:extLst>
              </p:cNvPr>
              <p:cNvSpPr txBox="1">
                <a:spLocks noRot="1" noChangeAspect="1" noMove="1" noResize="1" noEditPoints="1" noAdjustHandles="1" noChangeArrowheads="1" noChangeShapeType="1" noTextEdit="1"/>
              </p:cNvSpPr>
              <p:nvPr/>
            </p:nvSpPr>
            <p:spPr>
              <a:xfrm>
                <a:off x="478130" y="1005556"/>
                <a:ext cx="6422024" cy="5385873"/>
              </a:xfrm>
              <a:prstGeom prst="rect">
                <a:avLst/>
              </a:prstGeom>
              <a:blipFill>
                <a:blip r:embed="rId4"/>
                <a:stretch>
                  <a:fillRect l="-759" t="-1019" r="-426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8506195-28DE-E685-9A69-8D7A3F6CAFE9}"/>
              </a:ext>
            </a:extLst>
          </p:cNvPr>
          <p:cNvPicPr>
            <a:picLocks noChangeAspect="1"/>
          </p:cNvPicPr>
          <p:nvPr/>
        </p:nvPicPr>
        <p:blipFill>
          <a:blip r:embed="rId5"/>
          <a:stretch>
            <a:fillRect/>
          </a:stretch>
        </p:blipFill>
        <p:spPr>
          <a:xfrm>
            <a:off x="1304594" y="1733196"/>
            <a:ext cx="4769095" cy="615982"/>
          </a:xfrm>
          <a:prstGeom prst="rect">
            <a:avLst/>
          </a:prstGeom>
        </p:spPr>
      </p:pic>
      <p:pic>
        <p:nvPicPr>
          <p:cNvPr id="8" name="图片 7">
            <a:extLst>
              <a:ext uri="{FF2B5EF4-FFF2-40B4-BE49-F238E27FC236}">
                <a16:creationId xmlns:a16="http://schemas.microsoft.com/office/drawing/2014/main" id="{C192AED8-746A-C108-7EF0-693C647D58B1}"/>
              </a:ext>
            </a:extLst>
          </p:cNvPr>
          <p:cNvPicPr>
            <a:picLocks noChangeAspect="1"/>
          </p:cNvPicPr>
          <p:nvPr/>
        </p:nvPicPr>
        <p:blipFill>
          <a:blip r:embed="rId6"/>
          <a:stretch>
            <a:fillRect/>
          </a:stretch>
        </p:blipFill>
        <p:spPr>
          <a:xfrm>
            <a:off x="858454" y="2427787"/>
            <a:ext cx="7403571" cy="3728227"/>
          </a:xfrm>
          <a:prstGeom prst="rect">
            <a:avLst/>
          </a:prstGeom>
        </p:spPr>
      </p:pic>
    </p:spTree>
    <p:extLst>
      <p:ext uri="{BB962C8B-B14F-4D97-AF65-F5344CB8AC3E}">
        <p14:creationId xmlns:p14="http://schemas.microsoft.com/office/powerpoint/2010/main" val="1259795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FF7A9-E233-F9DD-3AED-DA77400050AA}"/>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ABD36B44-358F-2B87-015E-864A5AA8B6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06167686-5DE7-1CF9-0B0A-97D673F4AB02}"/>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修正公式</a:t>
            </a:r>
          </a:p>
        </p:txBody>
      </p:sp>
      <p:pic>
        <p:nvPicPr>
          <p:cNvPr id="9" name="图片 8">
            <a:extLst>
              <a:ext uri="{FF2B5EF4-FFF2-40B4-BE49-F238E27FC236}">
                <a16:creationId xmlns:a16="http://schemas.microsoft.com/office/drawing/2014/main" id="{37ACCFCC-2960-94B8-5B29-B6B59F8C2271}"/>
              </a:ext>
            </a:extLst>
          </p:cNvPr>
          <p:cNvPicPr>
            <a:picLocks noChangeAspect="1"/>
          </p:cNvPicPr>
          <p:nvPr/>
        </p:nvPicPr>
        <p:blipFill>
          <a:blip r:embed="rId4"/>
          <a:stretch>
            <a:fillRect/>
          </a:stretch>
        </p:blipFill>
        <p:spPr>
          <a:xfrm>
            <a:off x="635763" y="4056854"/>
            <a:ext cx="6186569" cy="2108457"/>
          </a:xfrm>
          <a:prstGeom prst="rect">
            <a:avLst/>
          </a:prstGeom>
        </p:spPr>
      </p:pic>
      <p:pic>
        <p:nvPicPr>
          <p:cNvPr id="11" name="图片 10">
            <a:extLst>
              <a:ext uri="{FF2B5EF4-FFF2-40B4-BE49-F238E27FC236}">
                <a16:creationId xmlns:a16="http://schemas.microsoft.com/office/drawing/2014/main" id="{7A812E02-0861-F78D-9A10-953FA4F24C0C}"/>
              </a:ext>
            </a:extLst>
          </p:cNvPr>
          <p:cNvPicPr>
            <a:picLocks noChangeAspect="1"/>
          </p:cNvPicPr>
          <p:nvPr/>
        </p:nvPicPr>
        <p:blipFill>
          <a:blip r:embed="rId5"/>
          <a:stretch>
            <a:fillRect/>
          </a:stretch>
        </p:blipFill>
        <p:spPr>
          <a:xfrm>
            <a:off x="387056" y="1076204"/>
            <a:ext cx="6094927" cy="2511869"/>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C485660-B0BE-DAAE-C70B-80817902B909}"/>
                  </a:ext>
                </a:extLst>
              </p:cNvPr>
              <p:cNvSpPr txBox="1"/>
              <p:nvPr/>
            </p:nvSpPr>
            <p:spPr>
              <a:xfrm>
                <a:off x="6702477" y="485703"/>
                <a:ext cx="3745814" cy="6186309"/>
              </a:xfrm>
              <a:prstGeom prst="rect">
                <a:avLst/>
              </a:prstGeom>
              <a:noFill/>
            </p:spPr>
            <p:txBody>
              <a:bodyPr wrap="square" rtlCol="0">
                <a:spAutoFit/>
              </a:bodyPr>
              <a:lstStyle/>
              <a:p>
                <a:r>
                  <a:rPr lang="zh-CN" altLang="zh-CN" dirty="0"/>
                  <a:t>改进版在无攻击条件下，提取水印的 NC 值同样接近 1.0000（无误码），验证了改进公式的正确性。与原论文版本相比，改进版的关键优势在于：</a:t>
                </a:r>
              </a:p>
              <a:p>
                <a:r>
                  <a:rPr lang="zh-CN" altLang="zh-CN" b="1" dirty="0"/>
                  <a:t>系数量化策略最优</a:t>
                </a:r>
                <a:r>
                  <a:rPr lang="zh-CN" altLang="zh-CN" dirty="0"/>
                  <a:t>：通过自适应选择最近的目标余数端点，每个系数的修改量控制在与当前余数距离最短的路径上，从原理上保证了嵌入失真最小。</a:t>
                </a:r>
              </a:p>
              <a:p>
                <a:r>
                  <a:rPr lang="zh-CN" altLang="zh-CN" b="1" dirty="0"/>
                  <a:t>100% 系数参与</a:t>
                </a:r>
                <a:r>
                  <a:rPr lang="zh-CN" altLang="zh-CN" dirty="0"/>
                  <a:t>：所有 4096 个嵌入位置的系数均被评估和调整，而非原论文的"仅修改需变更的系数"策略，配合最小化 delta 实现了更均匀的修改分布。</a:t>
                </a:r>
              </a:p>
              <a:p>
                <a:r>
                  <a:rPr lang="zh-CN" altLang="zh-CN" b="1" dirty="0"/>
                  <a:t>判决边界更稳健</a:t>
                </a:r>
                <a:r>
                  <a:rPr lang="zh-CN" altLang="zh-CN" dirty="0"/>
                  <a:t>：提取时使用区间 </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16</m:t>
                        </m:r>
                      </m:e>
                      <m:e>
                        <m:r>
                          <a:rPr lang="en-US" altLang="zh-CN">
                            <a:latin typeface="Cambria Math" panose="02040503050406030204" pitchFamily="18" charset="0"/>
                          </a:rPr>
                          <m:t>48</m:t>
                        </m:r>
                      </m:e>
                    </m:d>
                  </m:oMath>
                </a14:m>
                <a:r>
                  <a:rPr lang="zh-CN" altLang="zh-CN" dirty="0"/>
                  <a:t> 判决"1"、</a:t>
                </a:r>
                <a14:m>
                  <m:oMath xmlns:m="http://schemas.openxmlformats.org/officeDocument/2006/math">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0</m:t>
                        </m:r>
                      </m:e>
                      <m:e>
                        <m:r>
                          <a:rPr lang="en-US" altLang="zh-CN">
                            <a:latin typeface="Cambria Math" panose="02040503050406030204" pitchFamily="18" charset="0"/>
                          </a:rPr>
                          <m:t>16</m:t>
                        </m:r>
                      </m:e>
                    </m:d>
                    <m:r>
                      <a:rPr lang="zh-CN" altLang="en-US">
                        <a:latin typeface="Cambria Math" panose="02040503050406030204" pitchFamily="18" charset="0"/>
                      </a:rPr>
                      <m:t>∪</m:t>
                    </m:r>
                    <m:d>
                      <m:dPr>
                        <m:begChr m:val="["/>
                        <m:sepChr m:val=","/>
                        <m:ctrlPr>
                          <a:rPr lang="zh-CN" altLang="en-US" i="1">
                            <a:latin typeface="Cambria Math" panose="02040503050406030204" pitchFamily="18" charset="0"/>
                          </a:rPr>
                        </m:ctrlPr>
                      </m:dPr>
                      <m:e>
                        <m:r>
                          <a:rPr lang="en-US" altLang="zh-CN">
                            <a:latin typeface="Cambria Math" panose="02040503050406030204" pitchFamily="18" charset="0"/>
                          </a:rPr>
                          <m:t>48</m:t>
                        </m:r>
                      </m:e>
                      <m:e>
                        <m:r>
                          <a:rPr lang="en-US" altLang="zh-CN">
                            <a:latin typeface="Cambria Math" panose="02040503050406030204" pitchFamily="18" charset="0"/>
                          </a:rPr>
                          <m:t>64</m:t>
                        </m:r>
                      </m:e>
                    </m:d>
                  </m:oMath>
                </a14:m>
                <a:r>
                  <a:rPr lang="zh-CN" altLang="zh-CN" dirty="0"/>
                  <a:t> 判决"0"，0 和 1 之间的间隔为 0（边界相邻），且目标余数 8、32、56 分别位于各自区间的正中央，对攻击扰动具有良好的容错性。</a:t>
                </a:r>
              </a:p>
              <a:p>
                <a:endParaRPr lang="zh-CN" altLang="en-US" dirty="0"/>
              </a:p>
            </p:txBody>
          </p:sp>
        </mc:Choice>
        <mc:Fallback xmlns="">
          <p:sp>
            <p:nvSpPr>
              <p:cNvPr id="14" name="文本框 13">
                <a:extLst>
                  <a:ext uri="{FF2B5EF4-FFF2-40B4-BE49-F238E27FC236}">
                    <a16:creationId xmlns:a16="http://schemas.microsoft.com/office/drawing/2014/main" id="{6C485660-B0BE-DAAE-C70B-80817902B909}"/>
                  </a:ext>
                </a:extLst>
              </p:cNvPr>
              <p:cNvSpPr txBox="1">
                <a:spLocks noRot="1" noChangeAspect="1" noMove="1" noResize="1" noEditPoints="1" noAdjustHandles="1" noChangeArrowheads="1" noChangeShapeType="1" noTextEdit="1"/>
              </p:cNvSpPr>
              <p:nvPr/>
            </p:nvSpPr>
            <p:spPr>
              <a:xfrm>
                <a:off x="6702477" y="485703"/>
                <a:ext cx="3745814" cy="6186309"/>
              </a:xfrm>
              <a:prstGeom prst="rect">
                <a:avLst/>
              </a:prstGeom>
              <a:blipFill>
                <a:blip r:embed="rId6"/>
                <a:stretch>
                  <a:fillRect l="-1301" t="-592" r="-68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779862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44FE-7049-EBA7-B57C-F69F4341742B}"/>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2DD1A3C5-E532-747C-914A-E9CDEBFDE7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85943CFE-3709-2734-7DFD-0F5BF908E913}"/>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向量化加速</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98BE96F-332C-9D7F-7371-285FA3A4FA00}"/>
                  </a:ext>
                </a:extLst>
              </p:cNvPr>
              <p:cNvSpPr txBox="1"/>
              <p:nvPr/>
            </p:nvSpPr>
            <p:spPr>
              <a:xfrm>
                <a:off x="687421" y="1410580"/>
                <a:ext cx="9708204" cy="3416320"/>
              </a:xfrm>
              <a:prstGeom prst="rect">
                <a:avLst/>
              </a:prstGeom>
              <a:noFill/>
            </p:spPr>
            <p:txBody>
              <a:bodyPr wrap="square" rtlCol="0">
                <a:spAutoFit/>
              </a:bodyPr>
              <a:lstStyle/>
              <a:p>
                <a:r>
                  <a:rPr lang="zh-CN" altLang="zh-CN" dirty="0"/>
                  <a:t>改进版虽然在算法层面修正了嵌入公式，但其代码实现仍沿用原程序的 for 循环结构，存在以下效率瓶颈：</a:t>
                </a:r>
              </a:p>
              <a:p>
                <a:endParaRPr lang="en-US" altLang="zh-CN" dirty="0"/>
              </a:p>
              <a:p>
                <a:r>
                  <a:rPr lang="zh-CN" altLang="zh-CN" dirty="0"/>
                  <a:t>嵌入和提取各需遍历 4096 个系数位置，每次迭代涉及标量运算和条件判断，MATLAB 的解释执行开销较大。</a:t>
                </a:r>
              </a:p>
              <a:p>
                <a:endParaRPr lang="en-US" altLang="zh-CN" dirty="0"/>
              </a:p>
              <a:p>
                <a:r>
                  <a:rPr lang="zh-CN" altLang="zh-CN" dirty="0"/>
                  <a:t>Arnold 置乱采用三重嵌套循环（次数 × 行 × 列），对于 64×64 的水印执行 20 次变换，相当于 </a:t>
                </a:r>
                <a14:m>
                  <m:oMath xmlns:m="http://schemas.openxmlformats.org/officeDocument/2006/math">
                    <m:r>
                      <a:rPr lang="en-US" altLang="zh-CN">
                        <a:latin typeface="Cambria Math" panose="02040503050406030204" pitchFamily="18" charset="0"/>
                      </a:rPr>
                      <m:t>20×64×64=81920</m:t>
                    </m:r>
                  </m:oMath>
                </a14:m>
                <a:r>
                  <a:rPr lang="zh-CN" altLang="zh-CN" dirty="0"/>
                  <a:t> 次迭代，每次迭代仅完成一个像素的坐标映射，效率极低。</a:t>
                </a:r>
              </a:p>
              <a:p>
                <a:endParaRPr lang="en-US" altLang="zh-CN" dirty="0"/>
              </a:p>
              <a:p>
                <a:r>
                  <a:rPr lang="zh-CN" altLang="zh-CN" dirty="0"/>
                  <a:t>MATLAB 的核心优势在于矩阵运算——底层使用高度优化的 BLAS/LAPACK 库在原生 C/Fortran 代码中完成计算。我们通过将上述循环全部改写为等效的向量化操作，让 MATLAB 在底层"一口气"处理所有数据。</a:t>
                </a:r>
              </a:p>
            </p:txBody>
          </p:sp>
        </mc:Choice>
        <mc:Fallback xmlns="">
          <p:sp>
            <p:nvSpPr>
              <p:cNvPr id="6" name="文本框 5">
                <a:extLst>
                  <a:ext uri="{FF2B5EF4-FFF2-40B4-BE49-F238E27FC236}">
                    <a16:creationId xmlns:a16="http://schemas.microsoft.com/office/drawing/2014/main" id="{098BE96F-332C-9D7F-7371-285FA3A4FA00}"/>
                  </a:ext>
                </a:extLst>
              </p:cNvPr>
              <p:cNvSpPr txBox="1">
                <a:spLocks noRot="1" noChangeAspect="1" noMove="1" noResize="1" noEditPoints="1" noAdjustHandles="1" noChangeArrowheads="1" noChangeShapeType="1" noTextEdit="1"/>
              </p:cNvSpPr>
              <p:nvPr/>
            </p:nvSpPr>
            <p:spPr>
              <a:xfrm>
                <a:off x="687421" y="1410580"/>
                <a:ext cx="9708204" cy="3416320"/>
              </a:xfrm>
              <a:prstGeom prst="rect">
                <a:avLst/>
              </a:prstGeom>
              <a:blipFill>
                <a:blip r:embed="rId4"/>
                <a:stretch>
                  <a:fillRect l="-565" t="-1426" r="-565" b="-12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822758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9C6D-B5F2-7A4C-44A6-84CBC37DD97A}"/>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64BD4F29-655A-EDCF-782A-10C2FFD743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95E344DD-0525-81E0-9FEF-3DB6AE628C71}"/>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向量化加速</a:t>
            </a:r>
          </a:p>
        </p:txBody>
      </p:sp>
      <p:sp>
        <p:nvSpPr>
          <p:cNvPr id="6" name="文本框 5">
            <a:extLst>
              <a:ext uri="{FF2B5EF4-FFF2-40B4-BE49-F238E27FC236}">
                <a16:creationId xmlns:a16="http://schemas.microsoft.com/office/drawing/2014/main" id="{BAAA6B04-9103-12D1-1332-79E793197739}"/>
              </a:ext>
            </a:extLst>
          </p:cNvPr>
          <p:cNvSpPr txBox="1"/>
          <p:nvPr/>
        </p:nvSpPr>
        <p:spPr>
          <a:xfrm>
            <a:off x="634491" y="948690"/>
            <a:ext cx="3780817" cy="3139321"/>
          </a:xfrm>
          <a:prstGeom prst="rect">
            <a:avLst/>
          </a:prstGeom>
          <a:noFill/>
        </p:spPr>
        <p:txBody>
          <a:bodyPr wrap="square" rtlCol="0">
            <a:spAutoFit/>
          </a:bodyPr>
          <a:lstStyle/>
          <a:p>
            <a:r>
              <a:rPr lang="zh-CN" altLang="zh-CN" dirty="0"/>
              <a:t>嵌入函数 vectorized_embed() 是整个程序向量化改造的核心。其思路是：将所有 4096 个系数的余数计算、目标确定、增量计算整合为矩阵运算，最终用一行赋值语句完成所有系数的更新。</a:t>
            </a:r>
            <a:endParaRPr lang="en-US" altLang="zh-CN" dirty="0"/>
          </a:p>
          <a:p>
            <a:endParaRPr lang="en-US" altLang="zh-CN" dirty="0"/>
          </a:p>
          <a:p>
            <a:r>
              <a:rPr lang="zh-CN" altLang="zh-CN" dirty="0"/>
              <a:t>对比原嵌入函数的 for 循环版本，向量化版本将 4096 次标量迭代压缩为约 10 行向量操作，MATLAB 在底层以 C 代码速度批量执行。</a:t>
            </a:r>
          </a:p>
        </p:txBody>
      </p:sp>
      <p:pic>
        <p:nvPicPr>
          <p:cNvPr id="4" name="图片 3">
            <a:extLst>
              <a:ext uri="{FF2B5EF4-FFF2-40B4-BE49-F238E27FC236}">
                <a16:creationId xmlns:a16="http://schemas.microsoft.com/office/drawing/2014/main" id="{9B48C23E-94E9-ED72-0AEE-A21FD967D41C}"/>
              </a:ext>
            </a:extLst>
          </p:cNvPr>
          <p:cNvPicPr>
            <a:picLocks noChangeAspect="1"/>
          </p:cNvPicPr>
          <p:nvPr/>
        </p:nvPicPr>
        <p:blipFill>
          <a:blip r:embed="rId4"/>
          <a:stretch>
            <a:fillRect/>
          </a:stretch>
        </p:blipFill>
        <p:spPr>
          <a:xfrm>
            <a:off x="4571670" y="696758"/>
            <a:ext cx="6216970" cy="5340624"/>
          </a:xfrm>
          <a:prstGeom prst="rect">
            <a:avLst/>
          </a:prstGeom>
        </p:spPr>
      </p:pic>
    </p:spTree>
    <p:extLst>
      <p:ext uri="{BB962C8B-B14F-4D97-AF65-F5344CB8AC3E}">
        <p14:creationId xmlns:p14="http://schemas.microsoft.com/office/powerpoint/2010/main" val="253865817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97DB3-C8D0-2462-4B24-6BDC2A72B821}"/>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D5C68CFB-C591-202B-666D-6516407B6E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15E46428-00DC-BEEB-39BB-CB6E120D052A}"/>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向量化加速</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823F111-3D62-A9E8-260A-8FC15CE5C0B1}"/>
                  </a:ext>
                </a:extLst>
              </p:cNvPr>
              <p:cNvSpPr txBox="1"/>
              <p:nvPr/>
            </p:nvSpPr>
            <p:spPr>
              <a:xfrm>
                <a:off x="744738" y="2791733"/>
                <a:ext cx="6398035" cy="2585323"/>
              </a:xfrm>
              <a:prstGeom prst="rect">
                <a:avLst/>
              </a:prstGeom>
              <a:noFill/>
            </p:spPr>
            <p:txBody>
              <a:bodyPr wrap="square" rtlCol="0">
                <a:spAutoFit/>
              </a:bodyPr>
              <a:lstStyle/>
              <a:p>
                <a:r>
                  <a:rPr lang="zh-CN" altLang="zh-CN" dirty="0"/>
                  <a:t>提取函数同样消除 for 循环，采用逻辑数组索引实现一行判决</a:t>
                </a:r>
                <a:r>
                  <a:rPr lang="zh-CN" altLang="en-US" dirty="0"/>
                  <a:t>。</a:t>
                </a:r>
                <a:endParaRPr lang="en-US" altLang="zh-CN" dirty="0"/>
              </a:p>
              <a:p>
                <a:endParaRPr lang="en-US" altLang="zh-CN" dirty="0"/>
              </a:p>
              <a:p>
                <a:r>
                  <a:rPr lang="zh-CN" altLang="zh-CN" dirty="0"/>
                  <a:t>Arnold 变换的向量化利用了 meshgrid 预计算所有像素的新旧坐标映射，将双重 for 循环替换为单次矩阵索引操作：</a:t>
                </a:r>
                <a:endParaRPr lang="en-US" altLang="zh-CN" dirty="0"/>
              </a:p>
              <a:p>
                <a:endParaRPr lang="en-US" altLang="zh-CN" dirty="0"/>
              </a:p>
              <a:p>
                <a:r>
                  <a:rPr lang="zh-CN" altLang="zh-CN" dirty="0"/>
                  <a:t>外层 for t = 1:times 仍保留（Arnold 变换的各次迭代间存在数据依赖，无法完全展开），但每次迭代内部不再有逐像素的双重循环，</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𝑁</m:t>
                        </m:r>
                      </m:e>
                      <m:sup>
                        <m:r>
                          <a:rPr lang="en-US" altLang="zh-CN">
                            <a:latin typeface="Cambria Math" panose="02040503050406030204" pitchFamily="18" charset="0"/>
                          </a:rPr>
                          <m:t>2</m:t>
                        </m:r>
                      </m:sup>
                    </m:sSup>
                  </m:oMath>
                </a14:m>
                <a:r>
                  <a:rPr lang="zh-CN" altLang="zh-CN" dirty="0"/>
                  <a:t> 次像素映射压缩为一次索引重排。对于 N=64、times=20 的场景，从 81920 次标量迭代减少为 20 次矩阵操作。</a:t>
                </a:r>
              </a:p>
            </p:txBody>
          </p:sp>
        </mc:Choice>
        <mc:Fallback xmlns="">
          <p:sp>
            <p:nvSpPr>
              <p:cNvPr id="6" name="文本框 5">
                <a:extLst>
                  <a:ext uri="{FF2B5EF4-FFF2-40B4-BE49-F238E27FC236}">
                    <a16:creationId xmlns:a16="http://schemas.microsoft.com/office/drawing/2014/main" id="{7823F111-3D62-A9E8-260A-8FC15CE5C0B1}"/>
                  </a:ext>
                </a:extLst>
              </p:cNvPr>
              <p:cNvSpPr txBox="1">
                <a:spLocks noRot="1" noChangeAspect="1" noMove="1" noResize="1" noEditPoints="1" noAdjustHandles="1" noChangeArrowheads="1" noChangeShapeType="1" noTextEdit="1"/>
              </p:cNvSpPr>
              <p:nvPr/>
            </p:nvSpPr>
            <p:spPr>
              <a:xfrm>
                <a:off x="744738" y="2791733"/>
                <a:ext cx="6398035" cy="2585323"/>
              </a:xfrm>
              <a:prstGeom prst="rect">
                <a:avLst/>
              </a:prstGeom>
              <a:blipFill>
                <a:blip r:embed="rId4"/>
                <a:stretch>
                  <a:fillRect l="-762" t="-2123" r="-2286" b="-330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236687D9-549B-567D-5FE6-054B17394EB2}"/>
              </a:ext>
            </a:extLst>
          </p:cNvPr>
          <p:cNvPicPr>
            <a:picLocks noChangeAspect="1"/>
          </p:cNvPicPr>
          <p:nvPr/>
        </p:nvPicPr>
        <p:blipFill>
          <a:blip r:embed="rId5"/>
          <a:stretch>
            <a:fillRect/>
          </a:stretch>
        </p:blipFill>
        <p:spPr>
          <a:xfrm>
            <a:off x="1687843" y="926946"/>
            <a:ext cx="5454930" cy="1720938"/>
          </a:xfrm>
          <a:prstGeom prst="rect">
            <a:avLst/>
          </a:prstGeom>
        </p:spPr>
      </p:pic>
      <p:pic>
        <p:nvPicPr>
          <p:cNvPr id="8" name="图片 7">
            <a:extLst>
              <a:ext uri="{FF2B5EF4-FFF2-40B4-BE49-F238E27FC236}">
                <a16:creationId xmlns:a16="http://schemas.microsoft.com/office/drawing/2014/main" id="{15C22DAD-606D-AE0A-8469-66BFDEA802C2}"/>
              </a:ext>
            </a:extLst>
          </p:cNvPr>
          <p:cNvPicPr>
            <a:picLocks noChangeAspect="1"/>
          </p:cNvPicPr>
          <p:nvPr/>
        </p:nvPicPr>
        <p:blipFill>
          <a:blip r:embed="rId6"/>
          <a:stretch>
            <a:fillRect/>
          </a:stretch>
        </p:blipFill>
        <p:spPr>
          <a:xfrm>
            <a:off x="7306849" y="1787415"/>
            <a:ext cx="4140413" cy="4381725"/>
          </a:xfrm>
          <a:prstGeom prst="rect">
            <a:avLst/>
          </a:prstGeom>
        </p:spPr>
      </p:pic>
    </p:spTree>
    <p:extLst>
      <p:ext uri="{BB962C8B-B14F-4D97-AF65-F5344CB8AC3E}">
        <p14:creationId xmlns:p14="http://schemas.microsoft.com/office/powerpoint/2010/main" val="30334329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0008C-0764-B67F-80C0-A6D09F6B7F84}"/>
            </a:ext>
          </a:extLst>
        </p:cNvPr>
        <p:cNvGrpSpPr/>
        <p:nvPr/>
      </p:nvGrpSpPr>
      <p:grpSpPr>
        <a:xfrm>
          <a:off x="0" y="0"/>
          <a:ext cx="0" cy="0"/>
          <a:chOff x="0" y="0"/>
          <a:chExt cx="0" cy="0"/>
        </a:xfrm>
      </p:grpSpPr>
      <p:pic>
        <p:nvPicPr>
          <p:cNvPr id="24" name="图片 23">
            <a:extLst>
              <a:ext uri="{FF2B5EF4-FFF2-40B4-BE49-F238E27FC236}">
                <a16:creationId xmlns:a16="http://schemas.microsoft.com/office/drawing/2014/main" id="{BCD91EFB-4421-0BA2-821D-16200870BC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
        <p:nvSpPr>
          <p:cNvPr id="2" name="文本框 1">
            <a:extLst>
              <a:ext uri="{FF2B5EF4-FFF2-40B4-BE49-F238E27FC236}">
                <a16:creationId xmlns:a16="http://schemas.microsoft.com/office/drawing/2014/main" id="{EF683F5E-7D2F-1594-2456-FA40F470C6F6}"/>
              </a:ext>
            </a:extLst>
          </p:cNvPr>
          <p:cNvSpPr txBox="1"/>
          <p:nvPr/>
        </p:nvSpPr>
        <p:spPr>
          <a:xfrm>
            <a:off x="478129" y="466571"/>
            <a:ext cx="6094926" cy="460375"/>
          </a:xfrm>
          <a:prstGeom prst="rect">
            <a:avLst/>
          </a:prstGeom>
          <a:noFill/>
        </p:spPr>
        <p:txBody>
          <a:bodyPr wrap="square">
            <a:spAutoFit/>
          </a:bodyPr>
          <a:lstStyle/>
          <a:p>
            <a:r>
              <a:rPr 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  </a:t>
            </a:r>
            <a:r>
              <a:rPr lang="zh-CN" altLang="en-US" sz="2400" b="1" dirty="0">
                <a:solidFill>
                  <a:schemeClr val="tx1">
                    <a:lumMod val="95000"/>
                    <a:lumOff val="5000"/>
                  </a:schemeClr>
                </a:solidFill>
                <a:latin typeface="Times New Roman" panose="02020603050405020304" pitchFamily="18" charset="0"/>
                <a:ea typeface="楷体" panose="02010609060101010101" pitchFamily="49" charset="-122"/>
                <a:cs typeface="Times New Roman" panose="02020603050405020304" pitchFamily="18" charset="0"/>
                <a:sym typeface="思源黑体 CN Normal" panose="020B0400000000000000" pitchFamily="34" charset="-122"/>
              </a:rPr>
              <a:t>向量化加速</a:t>
            </a:r>
          </a:p>
        </p:txBody>
      </p:sp>
      <p:pic>
        <p:nvPicPr>
          <p:cNvPr id="4" name="图片 3">
            <a:extLst>
              <a:ext uri="{FF2B5EF4-FFF2-40B4-BE49-F238E27FC236}">
                <a16:creationId xmlns:a16="http://schemas.microsoft.com/office/drawing/2014/main" id="{977D5A26-EAF1-DC86-009D-21545041F555}"/>
              </a:ext>
            </a:extLst>
          </p:cNvPr>
          <p:cNvPicPr>
            <a:picLocks noChangeAspect="1"/>
          </p:cNvPicPr>
          <p:nvPr/>
        </p:nvPicPr>
        <p:blipFill>
          <a:blip r:embed="rId4"/>
          <a:stretch>
            <a:fillRect/>
          </a:stretch>
        </p:blipFill>
        <p:spPr>
          <a:xfrm>
            <a:off x="2911311" y="413466"/>
            <a:ext cx="6369377" cy="2921150"/>
          </a:xfrm>
          <a:prstGeom prst="rect">
            <a:avLst/>
          </a:prstGeom>
        </p:spPr>
      </p:pic>
      <p:sp>
        <p:nvSpPr>
          <p:cNvPr id="7" name="文本框 6">
            <a:extLst>
              <a:ext uri="{FF2B5EF4-FFF2-40B4-BE49-F238E27FC236}">
                <a16:creationId xmlns:a16="http://schemas.microsoft.com/office/drawing/2014/main" id="{9CB94496-F349-EBC2-BD2F-00696D32408C}"/>
              </a:ext>
            </a:extLst>
          </p:cNvPr>
          <p:cNvSpPr txBox="1"/>
          <p:nvPr/>
        </p:nvSpPr>
        <p:spPr>
          <a:xfrm>
            <a:off x="1073284" y="3547353"/>
            <a:ext cx="10045430" cy="2585323"/>
          </a:xfrm>
          <a:prstGeom prst="rect">
            <a:avLst/>
          </a:prstGeom>
          <a:noFill/>
        </p:spPr>
        <p:txBody>
          <a:bodyPr wrap="square" rtlCol="0">
            <a:spAutoFit/>
          </a:bodyPr>
          <a:lstStyle/>
          <a:p>
            <a:r>
              <a:rPr lang="zh-CN" altLang="zh-CN" dirty="0"/>
              <a:t>向量化加速版在保持 PSNR 和 NC 值不变（即水印质量完全等价）的前提下，将端到端（嵌入+提取）的运行时间大幅缩短。这一提升源于将 MATLAB 最不擅长的逐元素标量循环替换为其最擅长的矩阵批量运算——消除了解释器在每次迭代中的函数调用和类型检查开销，将计算密集部分交由底层原生代码执行。</a:t>
            </a:r>
          </a:p>
          <a:p>
            <a:endParaRPr lang="en-US" altLang="zh-CN" dirty="0"/>
          </a:p>
          <a:p>
            <a:r>
              <a:rPr lang="zh-CN" altLang="zh-CN" dirty="0"/>
              <a:t>此外，向量化代码的长度仅为循环版的约 60%，逻辑更简洁、可读性更强。例如提取函数从 12 行的 for 循环缩减为 4 行向量操作，嵌入函数从约 40 行的条件分支嵌套缩减为约 20 行的矩阵运算，代码的维护成本和出错概率均显著降低。</a:t>
            </a:r>
          </a:p>
          <a:p>
            <a:endParaRPr lang="zh-CN" altLang="en-US" dirty="0"/>
          </a:p>
        </p:txBody>
      </p:sp>
    </p:spTree>
    <p:extLst>
      <p:ext uri="{BB962C8B-B14F-4D97-AF65-F5344CB8AC3E}">
        <p14:creationId xmlns:p14="http://schemas.microsoft.com/office/powerpoint/2010/main" val="127519254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A_矩形 29"/>
          <p:cNvSpPr/>
          <p:nvPr>
            <p:custDataLst>
              <p:tags r:id="rId1"/>
            </p:custDataLst>
          </p:nvPr>
        </p:nvSpPr>
        <p:spPr>
          <a:xfrm>
            <a:off x="2620360" y="1708213"/>
            <a:ext cx="7695070" cy="1939377"/>
          </a:xfrm>
          <a:prstGeom prst="rect">
            <a:avLst/>
          </a:prstGeom>
          <a:noFill/>
          <a:ln>
            <a:noFill/>
          </a:ln>
          <a:effectLst/>
        </p:spPr>
        <p:txBody>
          <a:bodyPr wrap="square">
            <a:spAutoFit/>
          </a:bodyPr>
          <a:lstStyle/>
          <a:p>
            <a:pPr algn="ctr">
              <a:lnSpc>
                <a:spcPct val="150000"/>
              </a:lnSpc>
            </a:pPr>
            <a:r>
              <a:rPr lang="zh-CN" altLang="en-US" sz="8800" dirty="0">
                <a:latin typeface="方正小标宋简体" panose="02000000000000000000" pitchFamily="2" charset="-122"/>
                <a:ea typeface="方正小标宋简体" panose="02000000000000000000" pitchFamily="2" charset="-122"/>
                <a:cs typeface="Open Sans" panose="020B0606030504020204" pitchFamily="34" charset="0"/>
              </a:rPr>
              <a:t>谢谢大家！</a:t>
            </a:r>
            <a:endParaRPr lang="en-US" altLang="zh-CN" sz="8800" dirty="0">
              <a:latin typeface="方正小标宋简体" panose="02000000000000000000" pitchFamily="2" charset="-122"/>
              <a:ea typeface="方正小标宋简体" panose="02000000000000000000" pitchFamily="2" charset="-122"/>
              <a:cs typeface="Open Sans" panose="020B0606030504020204" pitchFamily="34" charset="0"/>
            </a:endParaRPr>
          </a:p>
        </p:txBody>
      </p:sp>
      <p:sp>
        <p:nvSpPr>
          <p:cNvPr id="6" name="矩形 5"/>
          <p:cNvSpPr/>
          <p:nvPr/>
        </p:nvSpPr>
        <p:spPr>
          <a:xfrm>
            <a:off x="556591" y="1116887"/>
            <a:ext cx="11104988" cy="705853"/>
          </a:xfrm>
          <a:prstGeom prst="rect">
            <a:avLst/>
          </a:prstGeom>
          <a:solidFill>
            <a:srgbClr val="7F17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9111916" y="5824037"/>
            <a:ext cx="2407029" cy="0"/>
          </a:xfrm>
          <a:prstGeom prst="line">
            <a:avLst/>
          </a:prstGeom>
          <a:ln w="63500">
            <a:solidFill>
              <a:srgbClr val="7F1769"/>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6058" y="5485260"/>
            <a:ext cx="1306054" cy="1297880"/>
          </a:xfrm>
          <a:prstGeom prst="rect">
            <a:avLst/>
          </a:prstGeom>
        </p:spPr>
      </p:pic>
      <p:sp>
        <p:nvSpPr>
          <p:cNvPr id="4" name="文本框 3"/>
          <p:cNvSpPr txBox="1"/>
          <p:nvPr/>
        </p:nvSpPr>
        <p:spPr>
          <a:xfrm>
            <a:off x="9878096" y="5273009"/>
            <a:ext cx="2028345" cy="461665"/>
          </a:xfrm>
          <a:prstGeom prst="rect">
            <a:avLst/>
          </a:prstGeom>
          <a:noFill/>
        </p:spPr>
        <p:txBody>
          <a:bodyPr wrap="square" rtlCol="0">
            <a:spAutoFit/>
          </a:bodyPr>
          <a:lstStyle/>
          <a:p>
            <a:r>
              <a:rPr lang="en-US" altLang="zh-CN" sz="2400" dirty="0">
                <a:latin typeface="方正小标宋简体" panose="02000000000000000000" pitchFamily="2" charset="-122"/>
                <a:ea typeface="方正小标宋简体" panose="02000000000000000000" pitchFamily="2" charset="-122"/>
              </a:rPr>
              <a:t>2026/06/09</a:t>
            </a:r>
            <a:endParaRPr lang="zh-CN" altLang="en-US" sz="2400" dirty="0">
              <a:latin typeface="方正小标宋简体" panose="02000000000000000000" pitchFamily="2" charset="-122"/>
              <a:ea typeface="方正小标宋简体" panose="02000000000000000000" pitchFamily="2" charset="-122"/>
            </a:endParaRPr>
          </a:p>
        </p:txBody>
      </p:sp>
      <p:sp>
        <p:nvSpPr>
          <p:cNvPr id="2" name="文本框 1"/>
          <p:cNvSpPr txBox="1"/>
          <p:nvPr/>
        </p:nvSpPr>
        <p:spPr>
          <a:xfrm>
            <a:off x="3054459" y="3901330"/>
            <a:ext cx="6109252" cy="957891"/>
          </a:xfrm>
          <a:prstGeom prst="rect">
            <a:avLst/>
          </a:prstGeom>
          <a:noFill/>
        </p:spPr>
        <p:txBody>
          <a:bodyPr wrap="square">
            <a:spAutoFit/>
          </a:bodyPr>
          <a:lstStyle/>
          <a:p>
            <a:pPr algn="ctr">
              <a:lnSpc>
                <a:spcPct val="150000"/>
              </a:lnSpc>
            </a:pPr>
            <a:r>
              <a:rPr lang="zh-CN" altLang="en-US" sz="2000" dirty="0">
                <a:latin typeface="楷体" panose="02010609060101010101" pitchFamily="49" charset="-122"/>
                <a:ea typeface="楷体" panose="02010609060101010101" pitchFamily="49" charset="-122"/>
              </a:rPr>
              <a:t>密码与网络空间安全学院  </a:t>
            </a:r>
            <a:endParaRPr lang="en-US" altLang="zh-CN" sz="2000" dirty="0">
              <a:latin typeface="楷体" panose="02010609060101010101" pitchFamily="49" charset="-122"/>
              <a:ea typeface="楷体" panose="02010609060101010101" pitchFamily="49" charset="-122"/>
            </a:endParaRPr>
          </a:p>
          <a:p>
            <a:pPr algn="ctr">
              <a:lnSpc>
                <a:spcPct val="150000"/>
              </a:lnSpc>
            </a:pPr>
            <a:r>
              <a:rPr lang="zh-CN" altLang="en-US" dirty="0">
                <a:latin typeface="楷体" panose="02010609060101010101" pitchFamily="49" charset="-122"/>
                <a:ea typeface="楷体" panose="02010609060101010101" pitchFamily="49" charset="-122"/>
              </a:rPr>
              <a:t>邹佳衡</a:t>
            </a:r>
            <a:r>
              <a:rPr lang="zh-CN" altLang="en-US" dirty="0"/>
              <a:t>、</a:t>
            </a:r>
            <a:r>
              <a:rPr lang="zh-CN" altLang="en-US" sz="2000" dirty="0">
                <a:latin typeface="楷体" panose="02010609060101010101" pitchFamily="49" charset="-122"/>
                <a:ea typeface="楷体" panose="02010609060101010101" pitchFamily="49" charset="-122"/>
              </a:rPr>
              <a:t>黄子豪、蒋佳杰、陈宇心、葛佳琦</a:t>
            </a:r>
            <a:endParaRPr lang="zh-CN" altLang="en-US" sz="2000" b="1" dirty="0">
              <a:latin typeface="楷体" panose="02010609060101010101" pitchFamily="49" charset="-122"/>
              <a:ea typeface="楷体" panose="02010609060101010101" pitchFamily="49" charset="-122"/>
            </a:endParaRPr>
          </a:p>
        </p:txBody>
      </p:sp>
    </p:spTree>
  </p:cSld>
  <p:clrMapOvr>
    <a:masterClrMapping/>
  </p:clrMapOvr>
  <p:transition spd="slow" advTm="300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简约2.5D毕业论文答辩PPT模板"/>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3586</Words>
  <Application>Microsoft Office PowerPoint</Application>
  <PresentationFormat>宽屏</PresentationFormat>
  <Paragraphs>219</Paragraphs>
  <Slides>27</Slides>
  <Notes>27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方正小标宋简体</vt:lpstr>
      <vt:lpstr>楷体</vt:lpstr>
      <vt:lpstr>Arial</vt:lpstr>
      <vt:lpstr>Calibri</vt:lpstr>
      <vt:lpstr>Calibri Light</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简约2.5D毕业论文答辩PPT模板</dc:title>
  <dc:creator>User</dc:creator>
  <cp:lastModifiedBy>佳衡 邹</cp:lastModifiedBy>
  <cp:revision>366</cp:revision>
  <dcterms:created xsi:type="dcterms:W3CDTF">2019-03-06T19:26:00Z</dcterms:created>
  <dcterms:modified xsi:type="dcterms:W3CDTF">2026-06-09T03:17:27Z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9E7DB54BD195481E962C8E36CF8CAA1D_12</vt:lpwstr>
  </property>
  <property fmtid="{D5CDD505-2E9C-101B-9397-08002B2CF9AE}" pid="3" name="KSOProductBuildVer">
    <vt:lpwstr>2052-12.1.0.20754</vt:lpwstr>
  </property>
</Properties>
</file>